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7" r:id="rId6"/>
    <p:sldId id="259" r:id="rId7"/>
    <p:sldId id="268" r:id="rId8"/>
    <p:sldId id="269" r:id="rId9"/>
    <p:sldId id="271" r:id="rId10"/>
    <p:sldId id="270" r:id="rId11"/>
    <p:sldId id="260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6B95"/>
    <a:srgbClr val="5A4A7A"/>
    <a:srgbClr val="C8D5CC"/>
    <a:srgbClr val="F0F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8575" autoAdjust="0"/>
    <p:restoredTop sz="67728" autoAdjust="0"/>
  </p:normalViewPr>
  <p:slideViewPr>
    <p:cSldViewPr snapToGrid="0" snapToObjects="1">
      <p:cViewPr varScale="1">
        <p:scale>
          <a:sx n="143" d="100"/>
          <a:sy n="143" d="100"/>
        </p:scale>
        <p:origin x="2844" y="114"/>
      </p:cViewPr>
      <p:guideLst/>
    </p:cSldViewPr>
  </p:slideViewPr>
  <p:outlineViewPr>
    <p:cViewPr>
      <p:scale>
        <a:sx n="75" d="100"/>
        <a:sy n="75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647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
오늘 발표할 주제는 '데이터 전처리 방법에 따른 결과 </a:t>
            </a:r>
            <a:r>
              <a:rPr lang="en-US" dirty="0" err="1"/>
              <a:t>분석'입니다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ko-KR" altLang="en-US" dirty="0" err="1"/>
              <a:t>결측치를</a:t>
            </a:r>
            <a:r>
              <a:rPr lang="ko-KR" altLang="en-US" dirty="0"/>
              <a:t> 어떻게 처리하느냐는 실무에서 항상 고민이 되는 문제입니다</a:t>
            </a:r>
            <a:r>
              <a:rPr lang="en-US" altLang="ko-KR" dirty="0"/>
              <a:t>.</a:t>
            </a:r>
            <a:r>
              <a:rPr lang="en-US" dirty="0"/>
              <a:t>
</a:t>
            </a:r>
            <a:r>
              <a:rPr lang="ko-KR" altLang="en-US" dirty="0"/>
              <a:t>따라서 </a:t>
            </a:r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ko-KR" altLang="en-US" dirty="0"/>
              <a:t>도메인</a:t>
            </a:r>
            <a:r>
              <a:rPr lang="en-US" dirty="0"/>
              <a:t>은 하나입니다: 결측치를 어떻게 처리하느냐에 따라 ML 모델의 성능이 실질적으로 달라지는가?
저는 Median, RF(RandomForest), MICE 세 가지 대치 방법을 Titanic, Pima Indians, Telco Churn, Credit Card Fraud 4개 데이터셋에 적용하고,
LightGBM · RandomForest · LogisticRegression · MLP </a:t>
            </a:r>
            <a:r>
              <a:rPr lang="ko-KR" altLang="en-US" dirty="0"/>
              <a:t>네</a:t>
            </a:r>
            <a:r>
              <a:rPr lang="en-US" dirty="0"/>
              <a:t> 가지 모델로 성능을 체계적으로 비교했습니다.
지금부터 그 과정과 결과를 순서대로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번째로, 4개 데이터셋을 왜 선택했는지 설명드리겠습니다.
저는 다양한 결측 상황을 커버하기 위해 전략적으로 선택했습니다.
</a:t>
            </a:r>
            <a:r>
              <a:rPr lang="ko-KR" altLang="en-US" dirty="0"/>
              <a:t>첫 번째</a:t>
            </a:r>
            <a:r>
              <a:rPr lang="en-US" altLang="ko-KR" dirty="0"/>
              <a:t>, Titanic</a:t>
            </a:r>
            <a:r>
              <a:rPr lang="ko-KR" altLang="en-US" dirty="0"/>
              <a:t>입니다</a:t>
            </a:r>
            <a:r>
              <a:rPr lang="en-US" altLang="ko-KR" dirty="0"/>
              <a:t>. 891</a:t>
            </a:r>
            <a:r>
              <a:rPr lang="ko-KR" altLang="en-US" dirty="0"/>
              <a:t>행의 소규모 데이터로</a:t>
            </a:r>
            <a:r>
              <a:rPr lang="en-US" altLang="ko-KR" dirty="0"/>
              <a:t>, Age </a:t>
            </a:r>
            <a:r>
              <a:rPr lang="ko-KR" altLang="en-US" dirty="0"/>
              <a:t>컬럼에 약 </a:t>
            </a:r>
            <a:r>
              <a:rPr lang="en-US" altLang="ko-KR" dirty="0"/>
              <a:t>20%</a:t>
            </a:r>
            <a:r>
              <a:rPr lang="ko-KR" altLang="en-US" dirty="0"/>
              <a:t>의 </a:t>
            </a:r>
            <a:r>
              <a:rPr lang="ko-KR" altLang="en-US" dirty="0" err="1"/>
              <a:t>결측이</a:t>
            </a:r>
            <a:r>
              <a:rPr lang="ko-KR" altLang="en-US" dirty="0"/>
              <a:t> 있습니다</a:t>
            </a:r>
            <a:r>
              <a:rPr lang="en-US" altLang="ko-KR" dirty="0"/>
              <a:t>. </a:t>
            </a:r>
            <a:r>
              <a:rPr lang="ko-KR" altLang="en-US" dirty="0"/>
              <a:t>중간 </a:t>
            </a:r>
            <a:r>
              <a:rPr lang="ko-KR" altLang="en-US" dirty="0" err="1"/>
              <a:t>결측률의</a:t>
            </a:r>
            <a:r>
              <a:rPr lang="ko-KR" altLang="en-US" dirty="0"/>
              <a:t> 대표 케이스로 선택했습니다</a:t>
            </a:r>
            <a:r>
              <a:rPr lang="en-US" altLang="ko-KR" dirty="0"/>
              <a:t>.</a:t>
            </a:r>
          </a:p>
          <a:p>
            <a:r>
              <a:rPr lang="en-US" dirty="0"/>
              <a:t>
</a:t>
            </a:r>
            <a:r>
              <a:rPr lang="ko-KR" altLang="en-US" dirty="0"/>
              <a:t>두 번째</a:t>
            </a:r>
            <a:r>
              <a:rPr lang="en-US" altLang="ko-KR" dirty="0"/>
              <a:t>, Pima Indians</a:t>
            </a:r>
            <a:r>
              <a:rPr lang="ko-KR" altLang="en-US" dirty="0"/>
              <a:t>입니다</a:t>
            </a:r>
            <a:r>
              <a:rPr lang="en-US" altLang="ko-KR" dirty="0"/>
              <a:t>. 768</a:t>
            </a:r>
            <a:r>
              <a:rPr lang="ko-KR" altLang="en-US" dirty="0"/>
              <a:t>행으로 가장 작은 규모지만</a:t>
            </a:r>
            <a:r>
              <a:rPr lang="en-US" altLang="ko-KR" dirty="0"/>
              <a:t>, Insulin</a:t>
            </a:r>
            <a:r>
              <a:rPr lang="ko-KR" altLang="en-US" dirty="0"/>
              <a:t>이 </a:t>
            </a:r>
            <a:r>
              <a:rPr lang="en-US" altLang="ko-KR" dirty="0"/>
              <a:t>49%, </a:t>
            </a:r>
            <a:r>
              <a:rPr lang="en-US" altLang="ko-KR" dirty="0" err="1"/>
              <a:t>SkinThickness</a:t>
            </a:r>
            <a:r>
              <a:rPr lang="ko-KR" altLang="en-US" dirty="0"/>
              <a:t>가 </a:t>
            </a:r>
            <a:r>
              <a:rPr lang="en-US" altLang="ko-KR" dirty="0"/>
              <a:t>30% </a:t>
            </a:r>
            <a:r>
              <a:rPr lang="ko-KR" altLang="en-US" dirty="0" err="1"/>
              <a:t>결측되어</a:t>
            </a:r>
            <a:r>
              <a:rPr lang="ko-KR" altLang="en-US" dirty="0"/>
              <a:t> 있어 </a:t>
            </a:r>
            <a:r>
              <a:rPr lang="ko-KR" altLang="en-US" dirty="0" err="1"/>
              <a:t>고결측률</a:t>
            </a:r>
            <a:r>
              <a:rPr lang="ko-KR" altLang="en-US" dirty="0"/>
              <a:t> 상황을 집중 검증하기 위해 선택했습니다</a:t>
            </a:r>
            <a:r>
              <a:rPr lang="en-US" altLang="ko-KR" dirty="0"/>
              <a:t>.</a:t>
            </a:r>
          </a:p>
          <a:p>
            <a:r>
              <a:rPr lang="en-US" dirty="0"/>
              <a:t>
</a:t>
            </a:r>
            <a:r>
              <a:rPr lang="ko-KR" altLang="en-US" dirty="0"/>
              <a:t>세 번째</a:t>
            </a:r>
            <a:r>
              <a:rPr lang="en-US" altLang="ko-KR" dirty="0"/>
              <a:t>, Telco Churn</a:t>
            </a:r>
            <a:r>
              <a:rPr lang="ko-KR" altLang="en-US" dirty="0"/>
              <a:t>입니다</a:t>
            </a:r>
            <a:r>
              <a:rPr lang="en-US" altLang="ko-KR" dirty="0"/>
              <a:t>. 7,043</a:t>
            </a:r>
            <a:r>
              <a:rPr lang="ko-KR" altLang="en-US" dirty="0"/>
              <a:t>행으로 </a:t>
            </a:r>
            <a:r>
              <a:rPr lang="en-US" altLang="ko-KR" dirty="0" err="1"/>
              <a:t>TotalCharges</a:t>
            </a:r>
            <a:r>
              <a:rPr lang="ko-KR" altLang="en-US" dirty="0"/>
              <a:t>에 소수 </a:t>
            </a:r>
            <a:r>
              <a:rPr lang="ko-KR" altLang="en-US" dirty="0" err="1"/>
              <a:t>결측이</a:t>
            </a:r>
            <a:r>
              <a:rPr lang="ko-KR" altLang="en-US" dirty="0"/>
              <a:t> 있습니다</a:t>
            </a:r>
            <a:r>
              <a:rPr lang="en-US" altLang="ko-KR" dirty="0"/>
              <a:t>. </a:t>
            </a:r>
            <a:r>
              <a:rPr lang="ko-KR" altLang="en-US" dirty="0"/>
              <a:t>대용량 데이터에서 처리 속도 차이를 확인하기 위해 포함했습니다</a:t>
            </a:r>
            <a:r>
              <a:rPr lang="en-US" altLang="ko-KR" dirty="0"/>
              <a:t>.</a:t>
            </a:r>
            <a:r>
              <a:rPr lang="en-US" dirty="0"/>
              <a:t>
</a:t>
            </a:r>
            <a:r>
              <a:rPr lang="ko-KR" altLang="en-US" dirty="0"/>
              <a:t>네 번째</a:t>
            </a:r>
            <a:r>
              <a:rPr lang="en-US" altLang="ko-KR" dirty="0"/>
              <a:t>, Credit Card Fraud</a:t>
            </a:r>
            <a:r>
              <a:rPr lang="ko-KR" altLang="en-US" dirty="0"/>
              <a:t>입니다</a:t>
            </a:r>
            <a:r>
              <a:rPr lang="en-US" altLang="ko-KR" dirty="0"/>
              <a:t>. 284,807</a:t>
            </a:r>
            <a:r>
              <a:rPr lang="ko-KR" altLang="en-US" dirty="0"/>
              <a:t>행으로 </a:t>
            </a:r>
            <a:r>
              <a:rPr lang="ko-KR" altLang="en-US" dirty="0" err="1"/>
              <a:t>결측치는</a:t>
            </a:r>
            <a:r>
              <a:rPr lang="ko-KR" altLang="en-US" dirty="0"/>
              <a:t> 없습니다</a:t>
            </a:r>
            <a:r>
              <a:rPr lang="en-US" altLang="ko-KR" dirty="0"/>
              <a:t>. </a:t>
            </a:r>
            <a:r>
              <a:rPr lang="ko-KR" altLang="en-US" dirty="0"/>
              <a:t>이 데이터셋을 포함한 이유는 두 가지입니다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첫째는 대규모 데이터에서 각 대치 방법의 처리 시간이 얼마나 차이 나는지 확인하기 </a:t>
            </a:r>
            <a:r>
              <a:rPr lang="ko-KR" altLang="en-US" dirty="0" err="1"/>
              <a:t>위함이고</a:t>
            </a:r>
            <a:r>
              <a:rPr lang="en-US" altLang="ko-KR" dirty="0"/>
              <a:t>, </a:t>
            </a:r>
            <a:r>
              <a:rPr lang="ko-KR" altLang="en-US" dirty="0"/>
              <a:t>둘째는 사기 거래가 전체의 </a:t>
            </a:r>
            <a:r>
              <a:rPr lang="en-US" altLang="ko-KR" dirty="0"/>
              <a:t>0.17%</a:t>
            </a:r>
            <a:r>
              <a:rPr lang="ko-KR" altLang="en-US" dirty="0"/>
              <a:t>에 불과한 극단적 클래스 불균형 상황에서 모델의 한계를 확인하기 </a:t>
            </a:r>
            <a:r>
              <a:rPr lang="ko-KR" altLang="en-US" dirty="0" err="1"/>
              <a:t>위함입니다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가지 대치 방법의 특성을 먼저 짚고 넘어가겠습니다</a:t>
            </a:r>
            <a:endParaRPr lang="en-US" altLang="ko-KR" dirty="0"/>
          </a:p>
          <a:p>
            <a:endParaRPr lang="en-US" dirty="0"/>
          </a:p>
          <a:p>
            <a:r>
              <a:rPr lang="en-US" altLang="ko-KR" dirty="0"/>
              <a:t>Median</a:t>
            </a:r>
            <a:r>
              <a:rPr lang="ko-KR" altLang="en-US" dirty="0"/>
              <a:t>은 열별 중앙값 한 번만 계산하면 되기 때문에 복잡도가 </a:t>
            </a:r>
            <a:r>
              <a:rPr lang="en-US" altLang="ko-KR" dirty="0"/>
              <a:t>O(N log N)</a:t>
            </a:r>
            <a:r>
              <a:rPr lang="ko-KR" altLang="en-US" dirty="0"/>
              <a:t>으로 세 방법 중 가장 빠릅니다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en-US" altLang="ko-KR" dirty="0"/>
              <a:t>RF </a:t>
            </a:r>
            <a:r>
              <a:rPr lang="ko-KR" altLang="en-US" dirty="0"/>
              <a:t>대치는 </a:t>
            </a:r>
            <a:r>
              <a:rPr lang="ko-KR" altLang="en-US" dirty="0" err="1"/>
              <a:t>결측된</a:t>
            </a:r>
            <a:r>
              <a:rPr lang="ko-KR" altLang="en-US" dirty="0"/>
              <a:t> 컬럼마다 </a:t>
            </a:r>
            <a:r>
              <a:rPr lang="en-US" altLang="ko-KR" dirty="0" err="1"/>
              <a:t>RandomForest</a:t>
            </a:r>
            <a:r>
              <a:rPr lang="en-US" altLang="ko-KR" dirty="0"/>
              <a:t> </a:t>
            </a:r>
            <a:r>
              <a:rPr lang="ko-KR" altLang="en-US" dirty="0"/>
              <a:t>모델을 학습해서 값을 예측합니다</a:t>
            </a:r>
            <a:r>
              <a:rPr lang="en-US" altLang="ko-KR" dirty="0"/>
              <a:t>. </a:t>
            </a:r>
            <a:r>
              <a:rPr lang="ko-KR" altLang="en-US" dirty="0"/>
              <a:t>비선형 관계까지 반영할 수 있다는 장점이 있지만</a:t>
            </a:r>
            <a:r>
              <a:rPr lang="en-US" altLang="ko-KR" dirty="0"/>
              <a:t>, </a:t>
            </a:r>
            <a:r>
              <a:rPr lang="ko-KR" altLang="en-US" dirty="0"/>
              <a:t>컬럼 수와 반복 횟수에 비례해 시간이 기하급수적으로 늘어납니다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en-US" altLang="ko-KR" dirty="0"/>
              <a:t>MICE</a:t>
            </a:r>
            <a:r>
              <a:rPr lang="ko-KR" altLang="en-US" dirty="0"/>
              <a:t>는 </a:t>
            </a:r>
            <a:r>
              <a:rPr lang="en-US" altLang="ko-KR" dirty="0" err="1"/>
              <a:t>BayesianRidge</a:t>
            </a:r>
            <a:r>
              <a:rPr lang="ko-KR" altLang="en-US" dirty="0"/>
              <a:t>를 사용한 체인 예측 방식으로</a:t>
            </a:r>
            <a:r>
              <a:rPr lang="en-US" altLang="ko-KR" dirty="0"/>
              <a:t>, </a:t>
            </a:r>
            <a:r>
              <a:rPr lang="ko-KR" altLang="en-US" dirty="0"/>
              <a:t>피처 간 선형 관계를 반영합니다</a:t>
            </a:r>
            <a:r>
              <a:rPr lang="en-US" altLang="ko-KR" dirty="0"/>
              <a:t>. </a:t>
            </a:r>
            <a:r>
              <a:rPr lang="ko-KR" altLang="en-US" dirty="0"/>
              <a:t>속도는 </a:t>
            </a:r>
            <a:r>
              <a:rPr lang="en-US" altLang="ko-KR" dirty="0"/>
              <a:t>Median</a:t>
            </a:r>
            <a:r>
              <a:rPr lang="ko-KR" altLang="en-US" dirty="0"/>
              <a:t>보다 느리지만 </a:t>
            </a:r>
            <a:r>
              <a:rPr lang="en-US" altLang="ko-KR" dirty="0"/>
              <a:t>RF</a:t>
            </a:r>
            <a:r>
              <a:rPr lang="ko-KR" altLang="en-US" dirty="0"/>
              <a:t>보다는 빠르고</a:t>
            </a:r>
            <a:r>
              <a:rPr lang="en-US" altLang="ko-KR" dirty="0"/>
              <a:t>, </a:t>
            </a:r>
            <a:r>
              <a:rPr lang="ko-KR" altLang="en-US" dirty="0"/>
              <a:t>실무에서 가장 널리 사용되는 방법입니다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세 방법이 실제로 어떤 차이를 만들어내는지 다음 슬라이드에서 확인해 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83334-9AB9-7EF9-C499-31992789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29BEC-28B9-8960-E421-3998CA91D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AF73C-1E0D-9222-0F96-602127A08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Titanic</a:t>
            </a:r>
            <a:r>
              <a:rPr lang="ko-KR" altLang="en-US" dirty="0"/>
              <a:t>의 </a:t>
            </a:r>
            <a:r>
              <a:rPr lang="en-US" altLang="ko-KR" dirty="0"/>
              <a:t>Age </a:t>
            </a:r>
            <a:r>
              <a:rPr lang="ko-KR" altLang="en-US" dirty="0"/>
              <a:t>컬럼</a:t>
            </a:r>
            <a:r>
              <a:rPr lang="en-US" altLang="ko-KR" dirty="0"/>
              <a:t>, </a:t>
            </a:r>
            <a:r>
              <a:rPr lang="ko-KR" altLang="en-US" dirty="0" err="1"/>
              <a:t>결측률</a:t>
            </a:r>
            <a:r>
              <a:rPr lang="ko-KR" altLang="en-US" dirty="0"/>
              <a:t> </a:t>
            </a:r>
            <a:r>
              <a:rPr lang="en-US" altLang="ko-KR" dirty="0"/>
              <a:t>20% </a:t>
            </a:r>
            <a:r>
              <a:rPr lang="ko-KR" altLang="en-US" dirty="0"/>
              <a:t>상황입니다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바이올린 플롯과 박스 플롯을 함께 보시면</a:t>
            </a:r>
            <a:r>
              <a:rPr lang="en-US" altLang="ko-KR" dirty="0"/>
              <a:t>, </a:t>
            </a:r>
            <a:r>
              <a:rPr lang="ko-KR" altLang="en-US" dirty="0"/>
              <a:t>평균값은 세 방법 모두 </a:t>
            </a:r>
            <a:r>
              <a:rPr lang="en-US" altLang="ko-KR" dirty="0"/>
              <a:t>29</a:t>
            </a:r>
            <a:r>
              <a:rPr lang="ko-KR" altLang="en-US" dirty="0" err="1"/>
              <a:t>점대로</a:t>
            </a:r>
            <a:r>
              <a:rPr lang="ko-KR" altLang="en-US" dirty="0"/>
              <a:t> 거의 동일합니다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그러나 표준편차를 보시면 다릅니다</a:t>
            </a:r>
            <a:r>
              <a:rPr lang="en-US" altLang="ko-KR" dirty="0"/>
              <a:t>. Median</a:t>
            </a:r>
            <a:r>
              <a:rPr lang="ko-KR" altLang="en-US" dirty="0"/>
              <a:t>을 적용하면 </a:t>
            </a:r>
            <a:r>
              <a:rPr lang="en-US" altLang="ko-KR" dirty="0"/>
              <a:t>10.3% </a:t>
            </a:r>
            <a:r>
              <a:rPr lang="ko-KR" altLang="en-US" dirty="0"/>
              <a:t>감소합니다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en-US" altLang="ko-KR" dirty="0"/>
              <a:t>RF</a:t>
            </a:r>
            <a:r>
              <a:rPr lang="ko-KR" altLang="en-US" dirty="0"/>
              <a:t>는 </a:t>
            </a:r>
            <a:r>
              <a:rPr lang="en-US" altLang="ko-KR" dirty="0"/>
              <a:t>4.8%, MICE</a:t>
            </a:r>
            <a:r>
              <a:rPr lang="ko-KR" altLang="en-US" dirty="0"/>
              <a:t>는 </a:t>
            </a:r>
            <a:r>
              <a:rPr lang="en-US" altLang="ko-KR" dirty="0"/>
              <a:t>6.2% </a:t>
            </a:r>
            <a:r>
              <a:rPr lang="ko-KR" altLang="en-US" dirty="0"/>
              <a:t>감소에 그칩니다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여기서 중요한 점은</a:t>
            </a:r>
            <a:r>
              <a:rPr lang="en-US" altLang="ko-KR" dirty="0"/>
              <a:t>, </a:t>
            </a:r>
            <a:r>
              <a:rPr lang="ko-KR" altLang="en-US" dirty="0" err="1"/>
              <a:t>결측률이</a:t>
            </a:r>
            <a:r>
              <a:rPr lang="ko-KR" altLang="en-US" dirty="0"/>
              <a:t> </a:t>
            </a:r>
            <a:r>
              <a:rPr lang="en-US" altLang="ko-KR" dirty="0"/>
              <a:t>20%</a:t>
            </a:r>
            <a:r>
              <a:rPr lang="ko-KR" altLang="en-US" dirty="0"/>
              <a:t>로 낮은 상황에서도 </a:t>
            </a:r>
            <a:r>
              <a:rPr lang="en-US" altLang="ko-KR" dirty="0"/>
              <a:t>Median</a:t>
            </a:r>
            <a:r>
              <a:rPr lang="ko-KR" altLang="en-US" dirty="0"/>
              <a:t>은 이미 분포를 왜곡하기 시작한다는 겁니다</a:t>
            </a:r>
            <a:r>
              <a:rPr lang="en-US" altLang="ko-KR" dirty="0"/>
              <a:t>. </a:t>
            </a:r>
            <a:r>
              <a:rPr lang="ko-KR" altLang="en-US" dirty="0"/>
              <a:t>바이올린 플롯에서도 </a:t>
            </a:r>
            <a:r>
              <a:rPr lang="en-US" altLang="ko-KR" dirty="0"/>
              <a:t>Median</a:t>
            </a:r>
            <a:r>
              <a:rPr lang="ko-KR" altLang="en-US" dirty="0"/>
              <a:t>이 다른 방법에 비해 뾰족하게 보이는 것이 이를 시각적으로 보여줍니다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따라서 </a:t>
            </a:r>
            <a:r>
              <a:rPr lang="ko-KR" altLang="en-US" dirty="0" err="1"/>
              <a:t>결측률이</a:t>
            </a:r>
            <a:r>
              <a:rPr lang="ko-KR" altLang="en-US" dirty="0"/>
              <a:t> 낮다고 해서 </a:t>
            </a:r>
            <a:r>
              <a:rPr lang="en-US" altLang="ko-KR" dirty="0"/>
              <a:t>Median</a:t>
            </a:r>
            <a:r>
              <a:rPr lang="ko-KR" altLang="en-US" dirty="0"/>
              <a:t>이 무조건 안전한 것은 아닙니다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65B00-55C2-9362-B2D7-92B0D33A7B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79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7DE37-05DE-F5A0-98E7-CF19F396E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0E5D9-502A-39BB-DDAB-F088C7EAA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38080-EBC5-BF31-1C3C-3BDA932BC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이번엔 </a:t>
            </a:r>
            <a:r>
              <a:rPr lang="ko-KR" altLang="en-US" dirty="0" err="1"/>
              <a:t>결측률이</a:t>
            </a:r>
            <a:r>
              <a:rPr lang="ko-KR" altLang="en-US" dirty="0"/>
              <a:t> </a:t>
            </a:r>
            <a:r>
              <a:rPr lang="en-US" altLang="ko-KR" dirty="0"/>
              <a:t>49%</a:t>
            </a:r>
            <a:r>
              <a:rPr lang="ko-KR" altLang="en-US" dirty="0"/>
              <a:t>인 </a:t>
            </a:r>
            <a:r>
              <a:rPr lang="en-US" altLang="ko-KR" dirty="0"/>
              <a:t>Pima</a:t>
            </a:r>
            <a:r>
              <a:rPr lang="ko-KR" altLang="en-US" dirty="0"/>
              <a:t>의 </a:t>
            </a:r>
            <a:r>
              <a:rPr lang="en-US" altLang="ko-KR" dirty="0"/>
              <a:t>Insulin </a:t>
            </a:r>
            <a:r>
              <a:rPr lang="ko-KR" altLang="en-US" dirty="0"/>
              <a:t>컬럼입니다</a:t>
            </a:r>
            <a:r>
              <a:rPr lang="en-US" altLang="ko-KR" dirty="0"/>
              <a:t>. </a:t>
            </a:r>
            <a:r>
              <a:rPr lang="ko-KR" altLang="en-US" dirty="0"/>
              <a:t>앞의 슬라이드와 확연히 다른 결과가 나타납니다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Box Plot </a:t>
            </a:r>
            <a:r>
              <a:rPr lang="ko-KR" altLang="en-US" dirty="0"/>
              <a:t>수치를 먼저 보시면</a:t>
            </a:r>
            <a:r>
              <a:rPr lang="en-US" altLang="ko-KR" dirty="0"/>
              <a:t>, </a:t>
            </a:r>
            <a:r>
              <a:rPr lang="en-US" altLang="ko-KR" dirty="0" err="1"/>
              <a:t>NoImp</a:t>
            </a:r>
            <a:r>
              <a:rPr lang="ko-KR" altLang="en-US" dirty="0"/>
              <a:t>의 표준편차는 </a:t>
            </a:r>
            <a:r>
              <a:rPr lang="en-US" altLang="ko-KR" dirty="0"/>
              <a:t>118.6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그런데 </a:t>
            </a:r>
            <a:r>
              <a:rPr lang="en-US" altLang="ko-KR" dirty="0"/>
              <a:t>Median</a:t>
            </a:r>
            <a:r>
              <a:rPr lang="ko-KR" altLang="en-US" dirty="0"/>
              <a:t>으로 대치하면 표준편차가 </a:t>
            </a:r>
            <a:r>
              <a:rPr lang="en-US" altLang="ko-KR" dirty="0"/>
              <a:t>86.3</a:t>
            </a:r>
            <a:r>
              <a:rPr lang="ko-KR" altLang="en-US" dirty="0"/>
              <a:t>으로 </a:t>
            </a:r>
            <a:r>
              <a:rPr lang="en-US" altLang="ko-KR" dirty="0"/>
              <a:t>26.8%</a:t>
            </a:r>
            <a:r>
              <a:rPr lang="ko-KR" altLang="en-US" dirty="0"/>
              <a:t>나 감소합니다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 err="1"/>
              <a:t>결측된</a:t>
            </a:r>
            <a:r>
              <a:rPr lang="ko-KR" altLang="en-US" dirty="0"/>
              <a:t> </a:t>
            </a:r>
            <a:r>
              <a:rPr lang="en-US" altLang="ko-KR" dirty="0"/>
              <a:t>49%, </a:t>
            </a:r>
            <a:r>
              <a:rPr lang="ko-KR" altLang="en-US" dirty="0"/>
              <a:t>즉 데이터의 절반 </a:t>
            </a:r>
            <a:r>
              <a:rPr lang="ko-KR" altLang="en-US" dirty="0" err="1"/>
              <a:t>가까이를</a:t>
            </a:r>
            <a:r>
              <a:rPr lang="ko-KR" altLang="en-US" dirty="0"/>
              <a:t> 하나의 동일한 중앙값으로 채우다 보니 분포가 인위적으로 좁아지는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Violin Plot</a:t>
            </a:r>
            <a:r>
              <a:rPr lang="ko-KR" altLang="en-US" dirty="0"/>
              <a:t>에서도 </a:t>
            </a:r>
            <a:r>
              <a:rPr lang="en-US" altLang="ko-KR" dirty="0"/>
              <a:t>Median</a:t>
            </a:r>
            <a:r>
              <a:rPr lang="ko-KR" altLang="en-US" dirty="0"/>
              <a:t>의 형태가 다른 방법에 비해 눈에 띄게 날씬한 것을 확인할 수 있습니다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en-US" altLang="ko-KR" dirty="0"/>
              <a:t>RF</a:t>
            </a:r>
            <a:r>
              <a:rPr lang="ko-KR" altLang="en-US" dirty="0"/>
              <a:t>는 </a:t>
            </a:r>
            <a:r>
              <a:rPr lang="en-US" altLang="ko-KR" dirty="0"/>
              <a:t>σ=98.5, MICE</a:t>
            </a:r>
            <a:r>
              <a:rPr lang="ko-KR" altLang="en-US" dirty="0"/>
              <a:t>는 </a:t>
            </a:r>
            <a:r>
              <a:rPr lang="en-US" altLang="ko-KR" dirty="0"/>
              <a:t>σ=96.5</a:t>
            </a:r>
            <a:r>
              <a:rPr lang="ko-KR" altLang="en-US" dirty="0"/>
              <a:t>로 원본의 </a:t>
            </a:r>
            <a:r>
              <a:rPr lang="en-US" altLang="ko-KR" dirty="0"/>
              <a:t>118.6</a:t>
            </a:r>
            <a:r>
              <a:rPr lang="ko-KR" altLang="en-US" dirty="0"/>
              <a:t>에 훨씬 가깝게 분포를 유지합니다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결론적으로</a:t>
            </a:r>
            <a:r>
              <a:rPr lang="en-US" altLang="ko-KR" dirty="0"/>
              <a:t>, </a:t>
            </a:r>
            <a:r>
              <a:rPr lang="ko-KR" altLang="en-US" dirty="0" err="1"/>
              <a:t>결측률이</a:t>
            </a:r>
            <a:r>
              <a:rPr lang="ko-KR" altLang="en-US" dirty="0"/>
              <a:t> </a:t>
            </a:r>
            <a:r>
              <a:rPr lang="en-US" altLang="ko-KR" dirty="0"/>
              <a:t>40%</a:t>
            </a:r>
            <a:r>
              <a:rPr lang="ko-KR" altLang="en-US" dirty="0"/>
              <a:t>를 넘어가는 상황에서는 </a:t>
            </a:r>
            <a:r>
              <a:rPr lang="en-US" altLang="ko-KR" dirty="0"/>
              <a:t>Median</a:t>
            </a:r>
            <a:r>
              <a:rPr lang="ko-KR" altLang="en-US" dirty="0"/>
              <a:t>이 데이터의 실제 분산을 과소평가하게 만들고</a:t>
            </a:r>
            <a:r>
              <a:rPr lang="en-US" altLang="ko-KR" dirty="0"/>
              <a:t>, </a:t>
            </a:r>
            <a:r>
              <a:rPr lang="ko-KR" altLang="en-US" dirty="0"/>
              <a:t>이는 모델이 학습하는 피처의 품질에 직접적인 영향을 줍니다</a:t>
            </a:r>
            <a:r>
              <a:rPr lang="en-US" altLang="ko-KR" dirty="0"/>
              <a:t>. </a:t>
            </a:r>
            <a:r>
              <a:rPr lang="ko-KR" altLang="en-US" dirty="0"/>
              <a:t>이것이 고결측 데이터에서 </a:t>
            </a:r>
            <a:r>
              <a:rPr lang="en-US" altLang="ko-KR" dirty="0"/>
              <a:t>RF </a:t>
            </a:r>
            <a:r>
              <a:rPr lang="ko-KR" altLang="en-US" dirty="0"/>
              <a:t>또는 </a:t>
            </a:r>
            <a:r>
              <a:rPr lang="en-US" altLang="ko-KR" dirty="0"/>
              <a:t>MICE</a:t>
            </a:r>
            <a:r>
              <a:rPr lang="ko-KR" altLang="en-US" dirty="0"/>
              <a:t>를 권장하는 핵심 근거입니다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AD816-0BB8-F5D5-2080-0C6D16E5B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31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 파트</a:t>
            </a:r>
            <a:r>
              <a:rPr lang="en-US" altLang="ko-KR" dirty="0"/>
              <a:t>, </a:t>
            </a:r>
            <a:r>
              <a:rPr lang="en-US" altLang="ko-KR" dirty="0" err="1"/>
              <a:t>LightGBM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LightGBM</a:t>
            </a:r>
            <a:r>
              <a:rPr lang="ko-KR" altLang="en-US" dirty="0"/>
              <a:t>을 분석하기 전에 두 가지를 먼저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en-US" altLang="ko-KR" dirty="0" err="1"/>
              <a:t>LightGBM</a:t>
            </a:r>
            <a:r>
              <a:rPr lang="ko-KR" altLang="en-US" dirty="0"/>
              <a:t>의 특성입니다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 err="1"/>
              <a:t>LightGBM</a:t>
            </a:r>
            <a:r>
              <a:rPr lang="ko-KR" altLang="en-US" dirty="0"/>
              <a:t>은 </a:t>
            </a:r>
            <a:r>
              <a:rPr lang="en-US" altLang="ko-KR" dirty="0"/>
              <a:t>Leaf-wise split </a:t>
            </a:r>
            <a:r>
              <a:rPr lang="ko-KR" altLang="en-US" dirty="0"/>
              <a:t>방식으로 </a:t>
            </a:r>
            <a:r>
              <a:rPr lang="ko-KR" altLang="en-US" dirty="0" err="1"/>
              <a:t>결측값을</a:t>
            </a:r>
            <a:r>
              <a:rPr lang="ko-KR" altLang="en-US" dirty="0"/>
              <a:t> 자체적으로 분기 처리하는 능력이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때문에 대치 방법의 차이가 다른 모델보다 작게 나타나는 경향이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튜닝입니다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저는 </a:t>
            </a:r>
            <a:r>
              <a:rPr lang="en-US" altLang="ko-KR" dirty="0"/>
              <a:t>Default, </a:t>
            </a:r>
            <a:r>
              <a:rPr lang="en-US" altLang="ko-KR" dirty="0" err="1"/>
              <a:t>GridSearch</a:t>
            </a:r>
            <a:r>
              <a:rPr lang="en-US" altLang="ko-KR" dirty="0"/>
              <a:t>, </a:t>
            </a:r>
            <a:r>
              <a:rPr lang="en-US" altLang="ko-KR" dirty="0" err="1"/>
              <a:t>Optuna</a:t>
            </a:r>
            <a:r>
              <a:rPr lang="en-US" altLang="ko-KR" dirty="0"/>
              <a:t> </a:t>
            </a:r>
            <a:r>
              <a:rPr lang="ko-KR" altLang="en-US" dirty="0"/>
              <a:t>세 가지 방식을 비교했습니다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Default</a:t>
            </a:r>
            <a:r>
              <a:rPr lang="ko-KR" altLang="en-US" dirty="0"/>
              <a:t>는 기본값 그대로 사용한 베이스라인입니다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GridSearch</a:t>
            </a:r>
            <a:r>
              <a:rPr lang="ko-KR" altLang="en-US" dirty="0"/>
              <a:t>는 미리 정해둔 파라미터 조합을 전수 탐색하는 방식으로</a:t>
            </a:r>
            <a:r>
              <a:rPr lang="en-US" altLang="ko-KR" dirty="0"/>
              <a:t>, </a:t>
            </a:r>
            <a:r>
              <a:rPr lang="ko-KR" altLang="en-US" dirty="0"/>
              <a:t>확실하지만 조합이 많아질수록 시간이 급격히 늘어납니다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 err="1"/>
              <a:t>Optuna</a:t>
            </a:r>
            <a:r>
              <a:rPr lang="ko-KR" altLang="en-US" dirty="0"/>
              <a:t>는 이전 시도 결과를 학습해 다음 탐색 방향을 스스로 결정하는 베이지안 최적화 방식으로</a:t>
            </a:r>
            <a:r>
              <a:rPr lang="ko-KR" altLang="en-US" baseline="0" dirty="0"/>
              <a:t> </a:t>
            </a:r>
            <a:r>
              <a:rPr lang="ko-KR" altLang="en-US" dirty="0"/>
              <a:t>넓은 범위를 효율적으로 탐색했습니다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16583-3E4A-430B-88F7-0103FC0D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4D026-614D-EB9C-7633-1E5A73387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8AD97-1D26-A6B7-D0C2-511EEE489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LightGBM</a:t>
            </a:r>
            <a:r>
              <a:rPr lang="en-US" altLang="ko-KR" dirty="0"/>
              <a:t> </a:t>
            </a:r>
            <a:r>
              <a:rPr lang="ko-KR" altLang="en-US" dirty="0"/>
              <a:t>튜닝 결과입니다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그래프를 보시면 </a:t>
            </a:r>
            <a:r>
              <a:rPr lang="en-US" altLang="ko-KR" dirty="0"/>
              <a:t>Default, </a:t>
            </a:r>
            <a:r>
              <a:rPr lang="en-US" altLang="ko-KR" dirty="0" err="1"/>
              <a:t>GridSearch</a:t>
            </a:r>
            <a:r>
              <a:rPr lang="en-US" altLang="ko-KR" dirty="0"/>
              <a:t>, </a:t>
            </a:r>
            <a:r>
              <a:rPr lang="en-US" altLang="ko-KR" dirty="0" err="1"/>
              <a:t>Optuna</a:t>
            </a:r>
            <a:r>
              <a:rPr lang="en-US" altLang="ko-KR" dirty="0"/>
              <a:t> </a:t>
            </a:r>
            <a:r>
              <a:rPr lang="ko-KR" altLang="en-US" dirty="0"/>
              <a:t>순으로 </a:t>
            </a:r>
            <a:r>
              <a:rPr lang="en-US" altLang="ko-KR" dirty="0"/>
              <a:t>AUC</a:t>
            </a:r>
            <a:r>
              <a:rPr lang="ko-KR" altLang="en-US" dirty="0"/>
              <a:t>가 일관되게 상승하는 패턴이 </a:t>
            </a:r>
            <a:r>
              <a:rPr lang="en-US" altLang="ko-KR" dirty="0"/>
              <a:t>4</a:t>
            </a:r>
            <a:r>
              <a:rPr lang="ko-KR" altLang="en-US" dirty="0"/>
              <a:t>개 데이터셋 전반에서 나타납니다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튜닝 효과는 대치 방법과 데이터셋에 관계없이 항상 존재한다는 것을 확인했습니다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주목할 점은 </a:t>
            </a:r>
            <a:r>
              <a:rPr lang="en-US" altLang="ko-KR" dirty="0"/>
              <a:t>Credit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Default</a:t>
            </a:r>
            <a:r>
              <a:rPr lang="ko-KR" altLang="en-US" dirty="0"/>
              <a:t>에서 </a:t>
            </a:r>
            <a:r>
              <a:rPr lang="en-US" altLang="ko-KR" dirty="0"/>
              <a:t>0.456, </a:t>
            </a:r>
            <a:r>
              <a:rPr lang="ko-KR" altLang="en-US" dirty="0"/>
              <a:t>사실상 무작위 예측 수준이었던 </a:t>
            </a:r>
            <a:r>
              <a:rPr lang="en-US" altLang="ko-KR" dirty="0"/>
              <a:t>AUC</a:t>
            </a:r>
            <a:r>
              <a:rPr lang="ko-KR" altLang="en-US" dirty="0"/>
              <a:t>가 </a:t>
            </a:r>
            <a:r>
              <a:rPr lang="en-US" altLang="ko-KR" dirty="0" err="1"/>
              <a:t>Optuna</a:t>
            </a:r>
            <a:r>
              <a:rPr lang="en-US" altLang="ko-KR" dirty="0"/>
              <a:t> </a:t>
            </a:r>
            <a:r>
              <a:rPr lang="ko-KR" altLang="en-US" dirty="0"/>
              <a:t>튜닝 후 </a:t>
            </a:r>
            <a:r>
              <a:rPr lang="en-US" altLang="ko-KR" dirty="0"/>
              <a:t>0.958</a:t>
            </a:r>
            <a:r>
              <a:rPr lang="ko-KR" altLang="en-US" dirty="0"/>
              <a:t>로 두 배 이상 뛰었습니다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클래스 불균형이 심한 상황에서는 튜닝이 얼마나 중요한지를 보여주는 결과입니다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 한 가지 흥미로운 점은 </a:t>
            </a:r>
            <a:r>
              <a:rPr lang="en-US" altLang="ko-KR" dirty="0"/>
              <a:t>Pima</a:t>
            </a:r>
            <a:r>
              <a:rPr lang="ko-KR" altLang="en-US" dirty="0"/>
              <a:t>에서 </a:t>
            </a:r>
            <a:r>
              <a:rPr lang="en-US" altLang="ko-KR" dirty="0" err="1"/>
              <a:t>NoImp+Optuna</a:t>
            </a:r>
            <a:r>
              <a:rPr lang="ko-KR" altLang="en-US" dirty="0"/>
              <a:t>가 </a:t>
            </a:r>
            <a:r>
              <a:rPr lang="en-US" altLang="ko-KR" dirty="0"/>
              <a:t>0.827</a:t>
            </a:r>
            <a:r>
              <a:rPr lang="ko-KR" altLang="en-US" dirty="0"/>
              <a:t>로 </a:t>
            </a:r>
            <a:r>
              <a:rPr lang="en-US" altLang="ko-KR" dirty="0"/>
              <a:t>RF</a:t>
            </a:r>
            <a:r>
              <a:rPr lang="ko-KR" altLang="en-US" dirty="0"/>
              <a:t>대치</a:t>
            </a:r>
            <a:r>
              <a:rPr lang="en-US" altLang="ko-KR" dirty="0"/>
              <a:t>+</a:t>
            </a:r>
            <a:r>
              <a:rPr lang="en-US" altLang="ko-KR" dirty="0" err="1"/>
              <a:t>Optuna</a:t>
            </a:r>
            <a:r>
              <a:rPr lang="ko-KR" altLang="en-US" dirty="0"/>
              <a:t>의 </a:t>
            </a:r>
            <a:r>
              <a:rPr lang="en-US" altLang="ko-KR" dirty="0"/>
              <a:t>0.815</a:t>
            </a:r>
            <a:r>
              <a:rPr lang="ko-KR" altLang="en-US" dirty="0"/>
              <a:t>보다 오히려 높다는 겁니다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결측치가</a:t>
            </a:r>
            <a:r>
              <a:rPr lang="ko-KR" altLang="en-US" dirty="0"/>
              <a:t> </a:t>
            </a:r>
            <a:r>
              <a:rPr lang="en-US" altLang="ko-KR" dirty="0"/>
              <a:t>49%</a:t>
            </a:r>
            <a:r>
              <a:rPr lang="ko-KR" altLang="en-US" dirty="0"/>
              <a:t>나 되는데도 </a:t>
            </a:r>
            <a:r>
              <a:rPr lang="en-US" altLang="ko-KR" dirty="0" err="1"/>
              <a:t>LightGBM</a:t>
            </a:r>
            <a:r>
              <a:rPr lang="ko-KR" altLang="en-US" dirty="0"/>
              <a:t>의 내부 처리 능력이 유효하게 작동했다는 증거입니다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5676B-4DBE-348F-6E60-73CD448ED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96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04FC-642B-0EE6-015C-0F51CE9C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A86F5-D236-3724-4CA7-A0EF43653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FD218-5C42-06C3-329A-079250E46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RandomForest</a:t>
            </a:r>
            <a:r>
              <a:rPr lang="ko-KR" altLang="en-US" dirty="0"/>
              <a:t>와 </a:t>
            </a:r>
            <a:r>
              <a:rPr lang="en-US" altLang="ko-KR" dirty="0" err="1"/>
              <a:t>LogisticRegression</a:t>
            </a:r>
            <a:r>
              <a:rPr lang="en-US" altLang="ko-KR" dirty="0"/>
              <a:t> </a:t>
            </a:r>
            <a:r>
              <a:rPr lang="ko-KR" altLang="en-US" dirty="0"/>
              <a:t>비교에서 한 가지 중요한 문제를 먼저 짚겠습니다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두 모델은 </a:t>
            </a:r>
            <a:r>
              <a:rPr lang="en-US" altLang="ko-KR" dirty="0" err="1"/>
              <a:t>LightGBM</a:t>
            </a:r>
            <a:r>
              <a:rPr lang="ko-KR" altLang="en-US" dirty="0"/>
              <a:t>과 달리 </a:t>
            </a:r>
            <a:r>
              <a:rPr lang="ko-KR" altLang="en-US" dirty="0" err="1"/>
              <a:t>결측치를</a:t>
            </a:r>
            <a:r>
              <a:rPr lang="ko-KR" altLang="en-US" dirty="0"/>
              <a:t> 자체적으로 처리하는 능력이 없습니다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 err="1"/>
              <a:t>NoImp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dirty="0" err="1"/>
              <a:t>결측치를</a:t>
            </a:r>
            <a:r>
              <a:rPr lang="ko-KR" altLang="en-US" dirty="0"/>
              <a:t> 그대로 두면 </a:t>
            </a:r>
            <a:r>
              <a:rPr lang="en-US" altLang="ko-KR" dirty="0" err="1"/>
              <a:t>dropna</a:t>
            </a:r>
            <a:r>
              <a:rPr lang="en-US" altLang="ko-KR" dirty="0"/>
              <a:t> </a:t>
            </a:r>
            <a:r>
              <a:rPr lang="ko-KR" altLang="en-US" dirty="0"/>
              <a:t>방식으로 해당 행을 삭제합니다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문제는 </a:t>
            </a:r>
            <a:r>
              <a:rPr lang="en-US" altLang="ko-KR" dirty="0"/>
              <a:t>Pima</a:t>
            </a:r>
            <a:r>
              <a:rPr lang="ko-KR" altLang="en-US" dirty="0"/>
              <a:t>에서 </a:t>
            </a:r>
            <a:r>
              <a:rPr lang="en-US" altLang="ko-KR" dirty="0" err="1"/>
              <a:t>NoImp</a:t>
            </a:r>
            <a:r>
              <a:rPr lang="ko-KR" altLang="en-US" dirty="0"/>
              <a:t>를 적용하면 </a:t>
            </a:r>
            <a:r>
              <a:rPr lang="en-US" altLang="ko-KR" dirty="0"/>
              <a:t>Train </a:t>
            </a:r>
            <a:r>
              <a:rPr lang="ko-KR" altLang="en-US" dirty="0"/>
              <a:t>데이터의 </a:t>
            </a:r>
            <a:r>
              <a:rPr lang="en-US" altLang="ko-KR" dirty="0"/>
              <a:t>52.4%, Test </a:t>
            </a:r>
            <a:r>
              <a:rPr lang="ko-KR" altLang="en-US" dirty="0"/>
              <a:t>데이터의 </a:t>
            </a:r>
            <a:r>
              <a:rPr lang="en-US" altLang="ko-KR" dirty="0"/>
              <a:t>45.5%</a:t>
            </a:r>
            <a:r>
              <a:rPr lang="ko-KR" altLang="en-US" dirty="0"/>
              <a:t>만 남는다는 겁니다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절반 이상의 데이터가 사라진 상태에서 </a:t>
            </a:r>
            <a:r>
              <a:rPr lang="en-US" altLang="ko-KR" dirty="0"/>
              <a:t>Median, RF, MICE</a:t>
            </a:r>
            <a:r>
              <a:rPr lang="ko-KR" altLang="en-US" dirty="0"/>
              <a:t>와 비교하는 건 모델이 본 데이터 자체가 다른 것이기 때문에 공정한 비교가 성립하지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이 두 모델의 분석에서는 </a:t>
            </a:r>
            <a:r>
              <a:rPr lang="en-US" altLang="ko-KR" dirty="0" err="1"/>
              <a:t>NoImp</a:t>
            </a:r>
            <a:r>
              <a:rPr lang="ko-KR" altLang="en-US" dirty="0"/>
              <a:t>를 제외하고 대치 </a:t>
            </a:r>
            <a:r>
              <a:rPr lang="ko-KR" altLang="en-US" dirty="0" err="1"/>
              <a:t>방법끼리만</a:t>
            </a:r>
            <a:r>
              <a:rPr lang="ko-KR" altLang="en-US" dirty="0"/>
              <a:t> 비교합니다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D81B0-D61A-519A-B1A9-AF78B169D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16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C040-19BE-A609-A348-B5BC7AA1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FBAD1-08FC-0299-F2E7-14DCA6ABD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F36C2-A107-ACB3-C6F7-F9E2567F1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전반적으로 두 모델 모두 </a:t>
            </a:r>
            <a:r>
              <a:rPr lang="en-US" altLang="ko-KR" dirty="0" err="1"/>
              <a:t>LightGBM</a:t>
            </a:r>
            <a:r>
              <a:rPr lang="ko-KR" altLang="en-US" dirty="0"/>
              <a:t>과 같은 결론으로 수렴합니다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Telco</a:t>
            </a:r>
            <a:r>
              <a:rPr lang="ko-KR" altLang="en-US" dirty="0"/>
              <a:t>와 </a:t>
            </a:r>
            <a:r>
              <a:rPr lang="en-US" altLang="ko-KR" dirty="0"/>
              <a:t>Credit</a:t>
            </a:r>
            <a:r>
              <a:rPr lang="ko-KR" altLang="en-US" dirty="0"/>
              <a:t>에서는 방법 간 차이가 거의 없고</a:t>
            </a:r>
            <a:r>
              <a:rPr lang="en-US" altLang="ko-KR" dirty="0"/>
              <a:t>, </a:t>
            </a:r>
            <a:r>
              <a:rPr lang="ko-KR" altLang="en-US" dirty="0" err="1"/>
              <a:t>결측률이</a:t>
            </a:r>
            <a:r>
              <a:rPr lang="ko-KR" altLang="en-US" dirty="0"/>
              <a:t> 높은 </a:t>
            </a:r>
            <a:r>
              <a:rPr lang="en-US" altLang="ko-KR" dirty="0"/>
              <a:t>Pima</a:t>
            </a:r>
            <a:r>
              <a:rPr lang="ko-KR" altLang="en-US" dirty="0"/>
              <a:t>에서만 소폭의 차이가 나타납니다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흥미로운 점은 모델별로 반응이 다르다는 겁니다</a:t>
            </a:r>
            <a:r>
              <a:rPr lang="en-US" altLang="ko-KR" dirty="0"/>
              <a:t>. </a:t>
            </a:r>
            <a:r>
              <a:rPr lang="en-US" altLang="ko-KR" dirty="0" err="1"/>
              <a:t>LogisticRegression</a:t>
            </a:r>
            <a:r>
              <a:rPr lang="ko-KR" altLang="en-US" dirty="0"/>
              <a:t>은 </a:t>
            </a:r>
            <a:r>
              <a:rPr lang="en-US" altLang="ko-KR" dirty="0"/>
              <a:t>Pima</a:t>
            </a:r>
            <a:r>
              <a:rPr lang="ko-KR" altLang="en-US" dirty="0"/>
              <a:t>에서 </a:t>
            </a:r>
            <a:r>
              <a:rPr lang="en-US" altLang="ko-KR" dirty="0"/>
              <a:t>RF</a:t>
            </a:r>
            <a:r>
              <a:rPr lang="ko-KR" altLang="en-US" dirty="0"/>
              <a:t>대치 </a:t>
            </a:r>
            <a:r>
              <a:rPr lang="en-US" altLang="ko-KR" dirty="0"/>
              <a:t>0.813</a:t>
            </a:r>
            <a:r>
              <a:rPr lang="ko-KR" altLang="en-US" dirty="0"/>
              <a:t>으로 </a:t>
            </a:r>
            <a:r>
              <a:rPr lang="en-US" altLang="ko-KR" dirty="0"/>
              <a:t>Median 0.798</a:t>
            </a:r>
            <a:r>
              <a:rPr lang="ko-KR" altLang="en-US" dirty="0"/>
              <a:t>을 앞섭니다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LogReg</a:t>
            </a:r>
            <a:r>
              <a:rPr lang="ko-KR" altLang="en-US" dirty="0"/>
              <a:t>는 선형 결정경계를 찾는 특성상 피처 분산 변화에 가장 민감하기 때문에</a:t>
            </a:r>
            <a:r>
              <a:rPr lang="en-US" altLang="ko-KR" dirty="0"/>
              <a:t>, Median</a:t>
            </a:r>
            <a:r>
              <a:rPr lang="ko-KR" altLang="en-US" dirty="0"/>
              <a:t>이 </a:t>
            </a:r>
            <a:r>
              <a:rPr lang="en-US" altLang="ko-KR" dirty="0"/>
              <a:t>σ</a:t>
            </a:r>
            <a:r>
              <a:rPr lang="ko-KR" altLang="en-US" dirty="0"/>
              <a:t>를 줄인 영향이 성능에 가장 먼저 반영된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반면 </a:t>
            </a:r>
            <a:r>
              <a:rPr lang="en-US" altLang="ko-KR" dirty="0" err="1"/>
              <a:t>RandomForest</a:t>
            </a:r>
            <a:r>
              <a:rPr lang="ko-KR" altLang="en-US" dirty="0"/>
              <a:t>는 </a:t>
            </a:r>
            <a:r>
              <a:rPr lang="en-US" altLang="ko-KR" dirty="0"/>
              <a:t>Pima</a:t>
            </a:r>
            <a:r>
              <a:rPr lang="ko-KR" altLang="en-US" dirty="0"/>
              <a:t>에서도 </a:t>
            </a:r>
            <a:r>
              <a:rPr lang="en-US" altLang="ko-KR" dirty="0"/>
              <a:t>Median</a:t>
            </a:r>
            <a:r>
              <a:rPr lang="ko-KR" altLang="en-US" dirty="0"/>
              <a:t>이 </a:t>
            </a:r>
            <a:r>
              <a:rPr lang="en-US" altLang="ko-KR" dirty="0"/>
              <a:t>0.821</a:t>
            </a:r>
            <a:r>
              <a:rPr lang="ko-KR" altLang="en-US" dirty="0"/>
              <a:t>로 가장 높습니다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분기 기반 모델은 값의 절대 크기보다 상대적 순서에 의존하기 때문에 분포 압축 영향을 덜 받는 것으로 해석됩니다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정리하면</a:t>
            </a:r>
            <a:r>
              <a:rPr lang="en-US" altLang="ko-KR" dirty="0"/>
              <a:t>, </a:t>
            </a:r>
            <a:r>
              <a:rPr lang="ko-KR" altLang="en-US" dirty="0"/>
              <a:t>분포 왜곡이 성능에 영향을 미치려면 두 조건이 동시에 충족되어야 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결측률이</a:t>
            </a:r>
            <a:r>
              <a:rPr lang="ko-KR" altLang="en-US" dirty="0"/>
              <a:t> 충분히 높을 것</a:t>
            </a:r>
            <a:r>
              <a:rPr lang="en-US" altLang="ko-KR" dirty="0"/>
              <a:t>, </a:t>
            </a:r>
            <a:r>
              <a:rPr lang="ko-KR" altLang="en-US" dirty="0"/>
              <a:t>그리고 모델이 분포 변화에 민감할 것</a:t>
            </a:r>
            <a:r>
              <a:rPr lang="en-US" altLang="ko-KR" dirty="0"/>
              <a:t>. </a:t>
            </a:r>
            <a:r>
              <a:rPr lang="ko-KR" altLang="en-US" dirty="0"/>
              <a:t>이 두 조건이 겹치는 </a:t>
            </a:r>
            <a:r>
              <a:rPr lang="en-US" altLang="ko-KR" dirty="0"/>
              <a:t>Pima + </a:t>
            </a:r>
            <a:r>
              <a:rPr lang="en-US" altLang="ko-KR" dirty="0" err="1"/>
              <a:t>LogReg</a:t>
            </a:r>
            <a:r>
              <a:rPr lang="en-US" altLang="ko-KR" dirty="0"/>
              <a:t> </a:t>
            </a:r>
            <a:r>
              <a:rPr lang="ko-KR" altLang="en-US" dirty="0"/>
              <a:t>조합에서만 </a:t>
            </a:r>
            <a:r>
              <a:rPr lang="en-US" altLang="ko-KR" dirty="0"/>
              <a:t>RF</a:t>
            </a:r>
            <a:r>
              <a:rPr lang="ko-KR" altLang="en-US" dirty="0"/>
              <a:t>대치와 </a:t>
            </a:r>
            <a:r>
              <a:rPr lang="en-US" altLang="ko-KR" dirty="0"/>
              <a:t>MICE</a:t>
            </a:r>
            <a:r>
              <a:rPr lang="ko-KR" altLang="en-US" dirty="0"/>
              <a:t>의 우위가 명확하게 나타났습니다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AD220-D36A-7739-F31F-BB9810AE1D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1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3D0F-6A0B-47B9-5021-E362C2DB2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342D4-5073-ABE3-EFF9-BB8D68F0B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4C76F-C775-3936-C6AC-5C4ACA7E1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지금까지의 분석을 하나의 표로 종합했습니다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핵심 메시지는 두 가지입니다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분포 왜곡이 곧 성능 하락은 아닙니다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Median</a:t>
            </a:r>
            <a:r>
              <a:rPr lang="ko-KR" altLang="en-US" dirty="0"/>
              <a:t>이 분포를 왜곡한다는 것은 앞서 확인했지만</a:t>
            </a:r>
            <a:r>
              <a:rPr lang="en-US" altLang="ko-KR" dirty="0"/>
              <a:t>, </a:t>
            </a:r>
            <a:r>
              <a:rPr lang="ko-KR" altLang="en-US" dirty="0"/>
              <a:t>그것이 항상 </a:t>
            </a:r>
            <a:r>
              <a:rPr lang="en-US" altLang="ko-KR" dirty="0"/>
              <a:t>AUC </a:t>
            </a:r>
            <a:r>
              <a:rPr lang="ko-KR" altLang="en-US" dirty="0"/>
              <a:t>하락으로 이어지지는 않았습니다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오히려 일부 상황에서는 </a:t>
            </a:r>
            <a:r>
              <a:rPr lang="en-US" altLang="ko-KR" dirty="0"/>
              <a:t>Median</a:t>
            </a:r>
            <a:r>
              <a:rPr lang="ko-KR" altLang="en-US" dirty="0"/>
              <a:t>이 </a:t>
            </a:r>
            <a:r>
              <a:rPr lang="en-US" altLang="ko-KR" dirty="0"/>
              <a:t>RF</a:t>
            </a:r>
            <a:r>
              <a:rPr lang="ko-KR" altLang="en-US" dirty="0"/>
              <a:t>대치나 </a:t>
            </a:r>
            <a:r>
              <a:rPr lang="en-US" altLang="ko-KR" dirty="0"/>
              <a:t>MICE</a:t>
            </a:r>
            <a:r>
              <a:rPr lang="ko-KR" altLang="en-US" dirty="0"/>
              <a:t>보다 높거나 동등했습니다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 err="1"/>
              <a:t>결측률이</a:t>
            </a:r>
            <a:r>
              <a:rPr lang="ko-KR" altLang="en-US" dirty="0"/>
              <a:t> 높을수록 그 연결고리가 강해집니다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Pima</a:t>
            </a:r>
            <a:r>
              <a:rPr lang="ko-KR" altLang="en-US" dirty="0"/>
              <a:t>처럼 </a:t>
            </a:r>
            <a:r>
              <a:rPr lang="ko-KR" altLang="en-US" dirty="0" err="1"/>
              <a:t>결측률이</a:t>
            </a:r>
            <a:r>
              <a:rPr lang="ko-KR" altLang="en-US" dirty="0"/>
              <a:t> </a:t>
            </a:r>
            <a:r>
              <a:rPr lang="en-US" altLang="ko-KR" dirty="0"/>
              <a:t>49%</a:t>
            </a:r>
            <a:r>
              <a:rPr lang="ko-KR" altLang="en-US" dirty="0"/>
              <a:t>에 달하면 대치 방법 선택이 성능에 영향을 미치기 시작하고</a:t>
            </a:r>
            <a:r>
              <a:rPr lang="en-US" altLang="ko-KR" dirty="0"/>
              <a:t>, </a:t>
            </a:r>
            <a:r>
              <a:rPr lang="ko-KR" altLang="en-US" dirty="0"/>
              <a:t>특히 분포에 민감한 모델에서 그 차이가 드러납니다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표를 보시면 </a:t>
            </a:r>
            <a:r>
              <a:rPr lang="en-US" altLang="ko-KR" dirty="0" err="1"/>
              <a:t>LightGBM-Optuna</a:t>
            </a:r>
            <a:r>
              <a:rPr lang="ko-KR" altLang="en-US" dirty="0"/>
              <a:t>가 전반적으로 가장 높은 </a:t>
            </a:r>
            <a:r>
              <a:rPr lang="en-US" altLang="ko-KR" dirty="0"/>
              <a:t>AUC</a:t>
            </a:r>
            <a:r>
              <a:rPr lang="ko-KR" altLang="en-US" dirty="0"/>
              <a:t>를 기록하고 있습니다</a:t>
            </a:r>
            <a:r>
              <a:rPr lang="en-US" altLang="ko-KR" dirty="0"/>
              <a:t>. </a:t>
            </a:r>
            <a:r>
              <a:rPr lang="ko-KR" altLang="en-US" dirty="0"/>
              <a:t>다음 슬라이드에서는 </a:t>
            </a:r>
            <a:r>
              <a:rPr lang="en-US" altLang="ko-KR" dirty="0"/>
              <a:t>MLP </a:t>
            </a:r>
            <a:r>
              <a:rPr lang="ko-KR" altLang="en-US" dirty="0"/>
              <a:t>결과를 살펴보겠습니다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AEE6F-9031-3577-E2AD-A6DA93C95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78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MLP </a:t>
            </a:r>
            <a:r>
              <a:rPr lang="ko-KR" altLang="en-US" dirty="0"/>
              <a:t>결과입니다</a:t>
            </a:r>
            <a:r>
              <a:rPr lang="en-US" altLang="ko-KR" dirty="0"/>
              <a:t>. </a:t>
            </a:r>
            <a:r>
              <a:rPr lang="ko-KR" altLang="en-US" dirty="0" err="1"/>
              <a:t>히트맵을</a:t>
            </a:r>
            <a:r>
              <a:rPr lang="ko-KR" altLang="en-US" dirty="0"/>
              <a:t> 보시면 </a:t>
            </a:r>
            <a:r>
              <a:rPr lang="en-US" altLang="ko-KR" dirty="0"/>
              <a:t>MLP </a:t>
            </a:r>
            <a:r>
              <a:rPr lang="ko-KR" altLang="en-US" dirty="0"/>
              <a:t>쪽은 대부분의 셀이 거의 흰색에 가깝습니다</a:t>
            </a:r>
            <a:r>
              <a:rPr lang="en-US" altLang="ko-KR" dirty="0"/>
              <a:t>. </a:t>
            </a:r>
            <a:r>
              <a:rPr lang="ko-KR" altLang="en-US" dirty="0"/>
              <a:t>대치 방법을 </a:t>
            </a:r>
            <a:r>
              <a:rPr lang="en-US" altLang="ko-KR" dirty="0"/>
              <a:t>Median</a:t>
            </a:r>
            <a:r>
              <a:rPr lang="ko-KR" altLang="en-US" dirty="0"/>
              <a:t>에서 </a:t>
            </a:r>
            <a:r>
              <a:rPr lang="en-US" altLang="ko-KR" dirty="0"/>
              <a:t>RF</a:t>
            </a:r>
            <a:r>
              <a:rPr lang="ko-KR" altLang="en-US" dirty="0"/>
              <a:t>나 </a:t>
            </a:r>
            <a:r>
              <a:rPr lang="en-US" altLang="ko-KR" dirty="0"/>
              <a:t>MICE</a:t>
            </a:r>
            <a:r>
              <a:rPr lang="ko-KR" altLang="en-US" dirty="0"/>
              <a:t>로 바꿔도 </a:t>
            </a:r>
            <a:r>
              <a:rPr lang="en-US" altLang="ko-KR" dirty="0"/>
              <a:t>AUC </a:t>
            </a:r>
            <a:r>
              <a:rPr lang="ko-KR" altLang="en-US" dirty="0"/>
              <a:t>변화가 </a:t>
            </a:r>
            <a:r>
              <a:rPr lang="en-US" altLang="ko-KR" dirty="0"/>
              <a:t>±0.001 </a:t>
            </a:r>
            <a:r>
              <a:rPr lang="ko-KR" altLang="en-US" dirty="0"/>
              <a:t>수준으로 사실상 차이가 없다는 의미입니다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눈에 띄는 건 </a:t>
            </a:r>
            <a:r>
              <a:rPr lang="en-US" altLang="ko-KR" dirty="0"/>
              <a:t>Pima</a:t>
            </a:r>
            <a:r>
              <a:rPr lang="ko-KR" altLang="en-US" dirty="0"/>
              <a:t>에서 </a:t>
            </a:r>
            <a:r>
              <a:rPr lang="en-US" altLang="ko-KR" dirty="0"/>
              <a:t>RF</a:t>
            </a:r>
            <a:r>
              <a:rPr lang="ko-KR" altLang="en-US" dirty="0"/>
              <a:t>대치가 </a:t>
            </a:r>
            <a:r>
              <a:rPr lang="en-US" altLang="ko-KR" dirty="0"/>
              <a:t>-0.0091</a:t>
            </a:r>
            <a:r>
              <a:rPr lang="ko-KR" altLang="en-US" dirty="0"/>
              <a:t>로 오히려 하락한 점인데</a:t>
            </a:r>
            <a:r>
              <a:rPr lang="en-US" altLang="ko-KR" dirty="0"/>
              <a:t>, RF</a:t>
            </a:r>
            <a:r>
              <a:rPr lang="ko-KR" altLang="en-US" dirty="0"/>
              <a:t>대치가 만들어낸 값의 분포가 </a:t>
            </a:r>
            <a:r>
              <a:rPr lang="en-US" altLang="ko-KR" dirty="0"/>
              <a:t>MLP</a:t>
            </a:r>
            <a:r>
              <a:rPr lang="ko-KR" altLang="en-US" dirty="0"/>
              <a:t>의 학습에 맞지 않았던 것으로 해석할 수 있습니다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반면 오른쪽 </a:t>
            </a:r>
            <a:r>
              <a:rPr lang="en-US" altLang="ko-KR" dirty="0" err="1"/>
              <a:t>LightGBM</a:t>
            </a:r>
            <a:r>
              <a:rPr lang="ko-KR" altLang="en-US" dirty="0"/>
              <a:t>을 보시면 </a:t>
            </a:r>
            <a:r>
              <a:rPr lang="en-US" altLang="ko-KR" dirty="0"/>
              <a:t>Titanic</a:t>
            </a:r>
            <a:r>
              <a:rPr lang="ko-KR" altLang="en-US" dirty="0"/>
              <a:t>에서 </a:t>
            </a:r>
            <a:r>
              <a:rPr lang="en-US" altLang="ko-KR" dirty="0"/>
              <a:t>RF +0.0165, MICE +0.0212</a:t>
            </a:r>
            <a:r>
              <a:rPr lang="ko-KR" altLang="en-US" dirty="0"/>
              <a:t>로 뚜렷한 개선이 보입니다</a:t>
            </a:r>
            <a:r>
              <a:rPr lang="en-US" altLang="ko-KR" dirty="0"/>
              <a:t>. </a:t>
            </a:r>
            <a:r>
              <a:rPr lang="ko-KR" altLang="en-US" dirty="0"/>
              <a:t>같은 대치 방법을 써도 모델에 따라 반응이 다르다는 것을 보여줍니다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소요시간을 보시면 </a:t>
            </a:r>
            <a:r>
              <a:rPr lang="en-US" altLang="ko-KR" dirty="0"/>
              <a:t>MLP</a:t>
            </a:r>
            <a:r>
              <a:rPr lang="ko-KR" altLang="en-US" dirty="0"/>
              <a:t>는 </a:t>
            </a:r>
            <a:r>
              <a:rPr lang="en-US" altLang="ko-KR" dirty="0"/>
              <a:t>Credit</a:t>
            </a:r>
            <a:r>
              <a:rPr lang="ko-KR" altLang="en-US" dirty="0"/>
              <a:t>에서 최대 </a:t>
            </a:r>
            <a:r>
              <a:rPr lang="en-US" altLang="ko-KR" dirty="0"/>
              <a:t>5.8</a:t>
            </a:r>
            <a:r>
              <a:rPr lang="ko-KR" altLang="en-US" dirty="0"/>
              <a:t>초로</a:t>
            </a:r>
            <a:r>
              <a:rPr lang="en-US" altLang="ko-KR" dirty="0"/>
              <a:t>, </a:t>
            </a:r>
            <a:r>
              <a:rPr lang="ko-KR" altLang="en-US" dirty="0"/>
              <a:t>다른 데이터셋과 비교해 규모에 비례해서 늘어납니다</a:t>
            </a:r>
            <a:r>
              <a:rPr lang="en-US" altLang="ko-KR" dirty="0"/>
              <a:t>. </a:t>
            </a:r>
            <a:r>
              <a:rPr lang="ko-KR" altLang="en-US" dirty="0"/>
              <a:t>하지만 대치 방법 간 시간 차이는 거의 없어</a:t>
            </a:r>
            <a:r>
              <a:rPr lang="en-US" altLang="ko-KR" dirty="0"/>
              <a:t>, MLP</a:t>
            </a:r>
            <a:r>
              <a:rPr lang="ko-KR" altLang="en-US" dirty="0"/>
              <a:t>에서는 속도 측면에서도 어떤 대치 방법을 쓰든 큰 차이가 없습니다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이번 실험의 </a:t>
            </a:r>
            <a:r>
              <a:rPr lang="en-US" altLang="ko-KR" dirty="0"/>
              <a:t>AUC </a:t>
            </a:r>
            <a:r>
              <a:rPr lang="ko-KR" altLang="en-US" dirty="0"/>
              <a:t>수치만 보면 </a:t>
            </a:r>
            <a:r>
              <a:rPr lang="en-US" altLang="ko-KR" dirty="0"/>
              <a:t>MLP</a:t>
            </a:r>
            <a:r>
              <a:rPr lang="ko-KR" altLang="en-US" dirty="0"/>
              <a:t>에서 대치 방법 간 성능 차이가 거의 없습니다</a:t>
            </a:r>
            <a:r>
              <a:rPr lang="en-US" altLang="ko-KR" dirty="0"/>
              <a:t>. </a:t>
            </a:r>
            <a:r>
              <a:rPr lang="ko-KR" altLang="en-US" dirty="0"/>
              <a:t>그러나 이것이 곧 </a:t>
            </a:r>
            <a:r>
              <a:rPr lang="en-US" altLang="ko-KR" dirty="0"/>
              <a:t>Median</a:t>
            </a:r>
            <a:r>
              <a:rPr lang="ko-KR" altLang="en-US" dirty="0"/>
              <a:t>이 최선이라는 의미는 아닙니다</a:t>
            </a:r>
            <a:r>
              <a:rPr lang="en-US" altLang="ko-KR" dirty="0"/>
              <a:t>. </a:t>
            </a:r>
          </a:p>
          <a:p>
            <a:endParaRPr lang="en-US" dirty="0"/>
          </a:p>
          <a:p>
            <a:r>
              <a:rPr lang="en-US" altLang="ko-KR" dirty="0"/>
              <a:t>MICE</a:t>
            </a:r>
            <a:r>
              <a:rPr lang="ko-KR" altLang="en-US" dirty="0"/>
              <a:t>는 피처 간 상관관계를 반영한 통계적으로 더 신뢰할 수 있는 값을 만들어내기 때문에</a:t>
            </a:r>
            <a:r>
              <a:rPr lang="en-US" altLang="ko-KR" dirty="0"/>
              <a:t>, </a:t>
            </a:r>
            <a:r>
              <a:rPr lang="ko-KR" altLang="en-US" dirty="0"/>
              <a:t>데이터 품질과 해석 가능성을 중시하는 실무 환경에서는 성능 차이가 미미하더라도 </a:t>
            </a:r>
            <a:r>
              <a:rPr lang="en-US" altLang="ko-KR" dirty="0"/>
              <a:t>MICE</a:t>
            </a:r>
            <a:r>
              <a:rPr lang="ko-KR" altLang="en-US" dirty="0"/>
              <a:t>를 선택하는 것이 더 합리적일 수 있습니다</a:t>
            </a:r>
            <a:r>
              <a:rPr lang="en-US" altLang="ko-KR" dirty="0"/>
              <a:t>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전체 실험 결과를 종합해 최종 결론을 내리겠습니다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실무에서는 </a:t>
            </a:r>
            <a:r>
              <a:rPr lang="en-US" altLang="ko-KR" dirty="0"/>
              <a:t>MICE</a:t>
            </a:r>
            <a:r>
              <a:rPr lang="ko-KR" altLang="en-US" dirty="0"/>
              <a:t>와 </a:t>
            </a:r>
            <a:r>
              <a:rPr lang="en-US" altLang="ko-KR" dirty="0" err="1"/>
              <a:t>LightGBM</a:t>
            </a:r>
            <a:r>
              <a:rPr lang="en-US" altLang="ko-KR" dirty="0"/>
              <a:t> </a:t>
            </a:r>
            <a:r>
              <a:rPr lang="ko-KR" altLang="en-US" dirty="0"/>
              <a:t>조합이 표준처럼 사용됩니다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MICE</a:t>
            </a:r>
            <a:r>
              <a:rPr lang="ko-KR" altLang="en-US" dirty="0"/>
              <a:t>는 데이터 품질을 보존하고</a:t>
            </a:r>
            <a:r>
              <a:rPr lang="en-US" altLang="ko-KR" dirty="0"/>
              <a:t>, </a:t>
            </a:r>
            <a:r>
              <a:rPr lang="en-US" altLang="ko-KR" dirty="0" err="1"/>
              <a:t>LightGBM</a:t>
            </a:r>
            <a:r>
              <a:rPr lang="ko-KR" altLang="en-US" dirty="0"/>
              <a:t>은 속도와 성능을 동시에 잡기 때문입니다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이번 실험이 그 공식을 얼마나 지지하는지 상황별로 정리했습니다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 err="1"/>
              <a:t>결측률</a:t>
            </a:r>
            <a:r>
              <a:rPr lang="ko-KR" altLang="en-US" dirty="0"/>
              <a:t> </a:t>
            </a:r>
            <a:r>
              <a:rPr lang="en-US" altLang="ko-KR" dirty="0"/>
              <a:t>5% </a:t>
            </a:r>
            <a:r>
              <a:rPr lang="ko-KR" altLang="en-US" dirty="0"/>
              <a:t>미만인 경우입니다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Telco</a:t>
            </a:r>
            <a:r>
              <a:rPr lang="ko-KR" altLang="en-US" dirty="0"/>
              <a:t>에서 확인했듯이 모든 대치 방법의 성능이 사실상 동일합니다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Median</a:t>
            </a:r>
            <a:r>
              <a:rPr lang="ko-KR" altLang="en-US" dirty="0"/>
              <a:t>을 쓰든 </a:t>
            </a:r>
            <a:r>
              <a:rPr lang="en-US" altLang="ko-KR" dirty="0"/>
              <a:t>MICE</a:t>
            </a:r>
            <a:r>
              <a:rPr lang="ko-KR" altLang="en-US" dirty="0"/>
              <a:t>를 쓰든 결과가 같기 때문에</a:t>
            </a:r>
            <a:r>
              <a:rPr lang="en-US" altLang="ko-KR" dirty="0"/>
              <a:t>, </a:t>
            </a:r>
            <a:r>
              <a:rPr lang="ko-KR" altLang="en-US" dirty="0"/>
              <a:t>데이터 품질과 재사용성을 위해 </a:t>
            </a:r>
            <a:r>
              <a:rPr lang="en-US" altLang="ko-KR" dirty="0"/>
              <a:t>MICE</a:t>
            </a:r>
            <a:r>
              <a:rPr lang="ko-KR" altLang="en-US" dirty="0"/>
              <a:t>를 선택해도 손해가 없습니다</a:t>
            </a:r>
            <a:r>
              <a:rPr lang="en-US" altLang="ko-KR" dirty="0"/>
              <a:t>. </a:t>
            </a:r>
            <a:r>
              <a:rPr lang="ko-KR" altLang="en-US" dirty="0"/>
              <a:t>실무 표준인 </a:t>
            </a:r>
            <a:r>
              <a:rPr lang="en-US" altLang="ko-KR" dirty="0"/>
              <a:t>MICE + </a:t>
            </a:r>
            <a:r>
              <a:rPr lang="en-US" altLang="ko-KR" dirty="0" err="1"/>
              <a:t>LightGBM</a:t>
            </a:r>
            <a:r>
              <a:rPr lang="ko-KR" altLang="en-US" dirty="0"/>
              <a:t>이 이 구간에서도 충분히 유효합니다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 err="1"/>
              <a:t>결측률</a:t>
            </a:r>
            <a:r>
              <a:rPr lang="ko-KR" altLang="en-US" dirty="0"/>
              <a:t> </a:t>
            </a:r>
            <a:r>
              <a:rPr lang="en-US" altLang="ko-KR" dirty="0"/>
              <a:t>20~40% </a:t>
            </a:r>
            <a:r>
              <a:rPr lang="ko-KR" altLang="en-US" dirty="0"/>
              <a:t>구간입니다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 err="1"/>
              <a:t>LightGBM</a:t>
            </a:r>
            <a:r>
              <a:rPr lang="ko-KR" altLang="en-US" dirty="0"/>
              <a:t>에서는 </a:t>
            </a:r>
            <a:r>
              <a:rPr lang="en-US" altLang="ko-KR" dirty="0"/>
              <a:t>RF</a:t>
            </a:r>
            <a:r>
              <a:rPr lang="ko-KR" altLang="en-US" dirty="0"/>
              <a:t>대치와 </a:t>
            </a:r>
            <a:r>
              <a:rPr lang="en-US" altLang="ko-KR" dirty="0"/>
              <a:t>MICE</a:t>
            </a:r>
            <a:r>
              <a:rPr lang="ko-KR" altLang="en-US" dirty="0"/>
              <a:t>가 </a:t>
            </a:r>
            <a:r>
              <a:rPr lang="en-US" altLang="ko-KR" dirty="0"/>
              <a:t>Median</a:t>
            </a:r>
            <a:r>
              <a:rPr lang="ko-KR" altLang="en-US" dirty="0"/>
              <a:t>보다 소폭 우위를 보였습니다</a:t>
            </a:r>
            <a:r>
              <a:rPr lang="en-US" altLang="ko-KR" dirty="0"/>
              <a:t>. MICE + </a:t>
            </a:r>
            <a:r>
              <a:rPr lang="en-US" altLang="ko-KR" dirty="0" err="1"/>
              <a:t>LightGBM</a:t>
            </a:r>
            <a:r>
              <a:rPr lang="en-US" altLang="ko-KR" dirty="0"/>
              <a:t> </a:t>
            </a:r>
            <a:r>
              <a:rPr lang="ko-KR" altLang="en-US" dirty="0"/>
              <a:t>조합이 안정적이며 실무 표준과도 일치합니다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 err="1"/>
              <a:t>결측률</a:t>
            </a:r>
            <a:r>
              <a:rPr lang="ko-KR" altLang="en-US" dirty="0"/>
              <a:t> </a:t>
            </a:r>
            <a:r>
              <a:rPr lang="en-US" altLang="ko-KR" dirty="0"/>
              <a:t>40% </a:t>
            </a:r>
            <a:r>
              <a:rPr lang="ko-KR" altLang="en-US" dirty="0"/>
              <a:t>이상인 경우입니다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가장 흥미로운 결과가 나온 구간입니다</a:t>
            </a:r>
            <a:r>
              <a:rPr lang="en-US" altLang="ko-KR" dirty="0"/>
              <a:t>. </a:t>
            </a:r>
            <a:r>
              <a:rPr lang="ko-KR" altLang="en-US" dirty="0"/>
              <a:t>전체 모델 평균으로 </a:t>
            </a:r>
            <a:r>
              <a:rPr lang="en-US" altLang="ko-KR" dirty="0"/>
              <a:t>Median</a:t>
            </a:r>
            <a:r>
              <a:rPr lang="ko-KR" altLang="en-US" dirty="0"/>
              <a:t>이 </a:t>
            </a:r>
            <a:r>
              <a:rPr lang="en-US" altLang="ko-KR" dirty="0"/>
              <a:t>RF</a:t>
            </a:r>
            <a:r>
              <a:rPr lang="ko-KR" altLang="en-US" dirty="0"/>
              <a:t>대치보다 오히려 높게 나왔고</a:t>
            </a:r>
            <a:r>
              <a:rPr lang="en-US" altLang="ko-KR" dirty="0"/>
              <a:t>, </a:t>
            </a:r>
            <a:r>
              <a:rPr lang="en-US" altLang="ko-KR" dirty="0" err="1"/>
              <a:t>LightGBM-Optuna</a:t>
            </a:r>
            <a:r>
              <a:rPr lang="en-US" altLang="ko-KR" dirty="0"/>
              <a:t> </a:t>
            </a:r>
            <a:r>
              <a:rPr lang="ko-KR" altLang="en-US" dirty="0"/>
              <a:t>기준으로는 </a:t>
            </a:r>
            <a:r>
              <a:rPr lang="en-US" altLang="ko-KR" dirty="0" err="1"/>
              <a:t>NoImp</a:t>
            </a:r>
            <a:r>
              <a:rPr lang="ko-KR" altLang="en-US" dirty="0"/>
              <a:t>가 가장 높았습니다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고결측에서</a:t>
            </a:r>
            <a:r>
              <a:rPr lang="ko-KR" altLang="en-US" dirty="0"/>
              <a:t> </a:t>
            </a:r>
            <a:r>
              <a:rPr lang="en-US" altLang="ko-KR" dirty="0"/>
              <a:t>RF</a:t>
            </a:r>
            <a:r>
              <a:rPr lang="ko-KR" altLang="en-US" dirty="0"/>
              <a:t>대치가 반드시 최선이 아닐 수 있다는 결과입니다</a:t>
            </a:r>
            <a:r>
              <a:rPr lang="en-US" altLang="ko-KR" dirty="0"/>
              <a:t>. </a:t>
            </a: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데이터 품질과 해석 가능성을 중시한다면 </a:t>
            </a:r>
            <a:r>
              <a:rPr lang="en-US" altLang="ko-KR" dirty="0"/>
              <a:t>MICE</a:t>
            </a:r>
            <a:r>
              <a:rPr lang="ko-KR" altLang="en-US" dirty="0"/>
              <a:t>는 여전히 합리적인 선택입니다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넷째</a:t>
            </a:r>
            <a:r>
              <a:rPr lang="en-US" altLang="ko-KR" dirty="0"/>
              <a:t>, </a:t>
            </a:r>
            <a:r>
              <a:rPr lang="ko-KR" altLang="en-US" dirty="0"/>
              <a:t>클래스 불균형이 심한 경우입니다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Credit</a:t>
            </a:r>
            <a:r>
              <a:rPr lang="ko-KR" altLang="en-US" dirty="0"/>
              <a:t>에서 확인했듯이 대치 방법은 성능에 전혀 영향을 미치지 않았습니다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 상황에서는 대치 방법을 고민하는 시간보다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튜닝과 </a:t>
            </a:r>
            <a:r>
              <a:rPr lang="en-US" altLang="ko-KR" dirty="0" err="1"/>
              <a:t>class_weight</a:t>
            </a:r>
            <a:r>
              <a:rPr lang="en-US" altLang="ko-KR" dirty="0"/>
              <a:t> </a:t>
            </a:r>
            <a:r>
              <a:rPr lang="ko-KR" altLang="en-US" dirty="0"/>
              <a:t>설정에 집중하는 것이 압도적으로 효율적입니다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최종적으로 정리하면</a:t>
            </a:r>
            <a:r>
              <a:rPr lang="en-US" altLang="ko-KR" dirty="0"/>
              <a:t>, </a:t>
            </a:r>
            <a:r>
              <a:rPr lang="ko-KR" altLang="en-US" dirty="0"/>
              <a:t>실무의 </a:t>
            </a:r>
            <a:r>
              <a:rPr lang="en-US" altLang="ko-KR" dirty="0"/>
              <a:t>MICE + </a:t>
            </a:r>
            <a:r>
              <a:rPr lang="en-US" altLang="ko-KR" dirty="0" err="1"/>
              <a:t>LightGBM</a:t>
            </a:r>
            <a:r>
              <a:rPr lang="en-US" altLang="ko-KR" dirty="0"/>
              <a:t> </a:t>
            </a:r>
            <a:r>
              <a:rPr lang="ko-KR" altLang="en-US" dirty="0"/>
              <a:t>공식은 대부분의 상황에서 유효합니다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단 고결측 데이터에서는 </a:t>
            </a:r>
            <a:r>
              <a:rPr lang="en-US" altLang="ko-KR" dirty="0" err="1"/>
              <a:t>LightGBM</a:t>
            </a:r>
            <a:r>
              <a:rPr lang="ko-KR" altLang="en-US" dirty="0"/>
              <a:t>의 내부 처리 능력을 신뢰하는 </a:t>
            </a:r>
            <a:r>
              <a:rPr lang="en-US" altLang="ko-KR" dirty="0" err="1"/>
              <a:t>NoImp</a:t>
            </a:r>
            <a:r>
              <a:rPr lang="ko-KR" altLang="en-US" dirty="0"/>
              <a:t>도 경쟁력 있는 선택지이며</a:t>
            </a:r>
            <a:r>
              <a:rPr lang="en-US" altLang="ko-KR" dirty="0"/>
              <a:t>, </a:t>
            </a:r>
            <a:r>
              <a:rPr lang="ko-KR" altLang="en-US" dirty="0"/>
              <a:t>클래스 불균형 상황에서는 대치 방법보다 튜닝이 성능을 결정한다는 점을 기억해 주시기 바랍니다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D5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583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전처리 방법에</a:t>
            </a:r>
            <a:endParaRPr lang="en-US" sz="4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따른 결과 분석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처리 방법 비교 및 모델 성능 평가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547872"/>
            <a:ext cx="7863840" cy="0"/>
          </a:xfrm>
          <a:prstGeom prst="line">
            <a:avLst/>
          </a:prstGeom>
          <a:noFill/>
          <a:ln w="6350">
            <a:solidFill>
              <a:srgbClr val="D2DF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3730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 ·  RF  ·  MICE   |   4개 데이터셋   |   4개 ML 모델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8D5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4개 데이터셋 — 선택 이유와 결측 구조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09160" y="887396"/>
            <a:ext cx="4014216" cy="823458"/>
          </a:xfrm>
          <a:prstGeom prst="roundRect">
            <a:avLst>
              <a:gd name="adj" fmla="val 4494"/>
            </a:avLst>
          </a:prstGeom>
          <a:solidFill>
            <a:srgbClr val="E2EFE9"/>
          </a:solidFill>
          <a:ln w="9525">
            <a:solidFill>
              <a:srgbClr val="3D7A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855464" y="964013"/>
            <a:ext cx="3867912" cy="169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Titanic  (1,000단위)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2953" y="1189860"/>
            <a:ext cx="1596669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수: 891행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결측률: 약 20%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중간 결측률 대표 케이스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타겟: 생존 여부 (이진 분류)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09160" y="3621702"/>
            <a:ext cx="4014216" cy="823458"/>
          </a:xfrm>
          <a:prstGeom prst="roundRect">
            <a:avLst>
              <a:gd name="adj" fmla="val 4494"/>
            </a:avLst>
          </a:prstGeom>
          <a:solidFill>
            <a:srgbClr val="FDF0E0"/>
          </a:solidFill>
          <a:ln w="9525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828551"/>
            <a:ext cx="4014216" cy="823459"/>
          </a:xfrm>
          <a:prstGeom prst="roundRect">
            <a:avLst>
              <a:gd name="adj" fmla="val 4494"/>
            </a:avLst>
          </a:prstGeom>
          <a:solidFill>
            <a:srgbClr val="EDE8F8"/>
          </a:solidFill>
          <a:ln w="9525">
            <a:solidFill>
              <a:srgbClr val="5A4A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09160" y="2733807"/>
            <a:ext cx="4014216" cy="823459"/>
          </a:xfrm>
          <a:prstGeom prst="roundRect">
            <a:avLst>
              <a:gd name="adj" fmla="val 4494"/>
            </a:avLst>
          </a:prstGeom>
          <a:solidFill>
            <a:srgbClr val="FAEAEA"/>
          </a:solidFill>
          <a:ln w="9525">
            <a:solidFill>
              <a:srgbClr val="7A3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55464" y="3686685"/>
            <a:ext cx="3867912" cy="163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Credit Card Fraud  (이상치 다수)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18426" y="3901829"/>
            <a:ext cx="2287720" cy="62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수: 284,807행  /  결측 없음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피처: V1~V28 (PCA 익명 피처)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극단적 클래스 불균형 확인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타겟: 사기 여부 (이진 분류)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Credit 데이터는 결측치 없음 → 대치 방법 비교 목적이 아닌, 클래스 불균형(사기 0.17%) </a:t>
            </a:r>
            <a:r>
              <a:rPr lang="ko-KR" altLang="en-US" sz="900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대규모 데이터 </a:t>
            </a:r>
            <a:r>
              <a:rPr lang="en-US" sz="900" dirty="0" err="1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상황에서의</a:t>
            </a:r>
            <a:r>
              <a:rPr lang="en-US" sz="900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모델 한계 확인 목적으로 포함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968740-D2D6-DB28-CA01-12CA1D56EEB8}"/>
              </a:ext>
            </a:extLst>
          </p:cNvPr>
          <p:cNvSpPr txBox="1"/>
          <p:nvPr/>
        </p:nvSpPr>
        <p:spPr>
          <a:xfrm>
            <a:off x="550270" y="1061850"/>
            <a:ext cx="3882940" cy="311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1,000단위 (</a:t>
            </a:r>
            <a:r>
              <a:rPr lang="ko-KR" altLang="en-US" sz="1200" dirty="0" err="1"/>
              <a:t>Titanic</a:t>
            </a:r>
            <a:r>
              <a:rPr lang="ko-KR" altLang="en-US" sz="1200" dirty="0"/>
              <a:t>) 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shape</a:t>
            </a:r>
            <a:r>
              <a:rPr lang="ko-KR" altLang="en-US" sz="1200" dirty="0"/>
              <a:t>=(891, 8)  </a:t>
            </a:r>
            <a:r>
              <a:rPr lang="ko-KR" altLang="en-US" sz="1200" dirty="0" err="1"/>
              <a:t>missing</a:t>
            </a:r>
            <a:r>
              <a:rPr lang="ko-KR" altLang="en-US" sz="1200" dirty="0"/>
              <a:t>=177  </a:t>
            </a:r>
            <a:r>
              <a:rPr lang="ko-KR" altLang="en-US" sz="1200" dirty="0" err="1"/>
              <a:t>target</a:t>
            </a:r>
            <a:r>
              <a:rPr lang="ko-KR" altLang="en-US" sz="1200" dirty="0"/>
              <a:t>={0: 549, 1: 342}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고결측(중소) (</a:t>
            </a:r>
            <a:r>
              <a:rPr lang="ko-KR" altLang="en-US" sz="1200" dirty="0" err="1"/>
              <a:t>Pima</a:t>
            </a:r>
            <a:r>
              <a:rPr lang="ko-KR" altLang="en-US" sz="1200" dirty="0"/>
              <a:t>)  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shape</a:t>
            </a:r>
            <a:r>
              <a:rPr lang="ko-KR" altLang="en-US" sz="1200" dirty="0"/>
              <a:t>=(768, 8)  </a:t>
            </a:r>
            <a:r>
              <a:rPr lang="ko-KR" altLang="en-US" sz="1200" dirty="0" err="1"/>
              <a:t>missing</a:t>
            </a:r>
            <a:r>
              <a:rPr lang="ko-KR" altLang="en-US" sz="1200" dirty="0"/>
              <a:t>=652  </a:t>
            </a:r>
            <a:r>
              <a:rPr lang="ko-KR" altLang="en-US" sz="1200" dirty="0" err="1"/>
              <a:t>target</a:t>
            </a:r>
            <a:r>
              <a:rPr lang="ko-KR" altLang="en-US" sz="1200" dirty="0"/>
              <a:t>={0: 500, 1: 268}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10,000단위 (</a:t>
            </a:r>
            <a:r>
              <a:rPr lang="ko-KR" altLang="en-US" sz="1200" dirty="0" err="1"/>
              <a:t>Telco</a:t>
            </a:r>
            <a:r>
              <a:rPr lang="ko-KR" altLang="en-US" sz="1200" dirty="0"/>
              <a:t>) 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shape</a:t>
            </a:r>
            <a:r>
              <a:rPr lang="ko-KR" altLang="en-US" sz="1200" dirty="0"/>
              <a:t>=(7043, 30)  </a:t>
            </a:r>
            <a:r>
              <a:rPr lang="ko-KR" altLang="en-US" sz="1200" dirty="0" err="1"/>
              <a:t>missing</a:t>
            </a:r>
            <a:r>
              <a:rPr lang="ko-KR" altLang="en-US" sz="1200" dirty="0"/>
              <a:t>=11  </a:t>
            </a:r>
            <a:r>
              <a:rPr lang="ko-KR" altLang="en-US" sz="1200" dirty="0" err="1"/>
              <a:t>target</a:t>
            </a:r>
            <a:r>
              <a:rPr lang="ko-KR" altLang="en-US" sz="1200" dirty="0"/>
              <a:t>={0: 5174, 1: 1869}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이상치다수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Credit</a:t>
            </a:r>
            <a:r>
              <a:rPr lang="ko-KR" altLang="en-US" sz="1200" dirty="0"/>
              <a:t>)  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shape</a:t>
            </a:r>
            <a:r>
              <a:rPr lang="ko-KR" altLang="en-US" sz="1200" dirty="0"/>
              <a:t>=(284807, 30)  </a:t>
            </a:r>
            <a:r>
              <a:rPr lang="ko-KR" altLang="en-US" sz="1200" dirty="0" err="1"/>
              <a:t>missing</a:t>
            </a:r>
            <a:r>
              <a:rPr lang="ko-KR" altLang="en-US" sz="1200" dirty="0"/>
              <a:t>=0  </a:t>
            </a:r>
            <a:r>
              <a:rPr lang="ko-KR" altLang="en-US" sz="1200" dirty="0" err="1"/>
              <a:t>target</a:t>
            </a:r>
            <a:r>
              <a:rPr lang="ko-KR" altLang="en-US" sz="1200" dirty="0"/>
              <a:t>={0: 284315, 1: 492}</a:t>
            </a:r>
          </a:p>
        </p:txBody>
      </p:sp>
      <p:sp>
        <p:nvSpPr>
          <p:cNvPr id="12" name="Text 10"/>
          <p:cNvSpPr/>
          <p:nvPr/>
        </p:nvSpPr>
        <p:spPr>
          <a:xfrm>
            <a:off x="4855464" y="2804718"/>
            <a:ext cx="3867912" cy="169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Telco Churn  (10,000단위)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55464" y="184937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Pima Indians  (고결측 중소)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18426" y="2114178"/>
            <a:ext cx="1572497" cy="6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수: 768행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49%, SkinThickness 30% 결측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고결측률 집중 검증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타겟: 당뇨 여부 (이진 분류)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18426" y="3017326"/>
            <a:ext cx="1664570" cy="6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수: 7,043행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소수 결측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대용량 데이터 처리 속도 비교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타겟: 고객 이탈 여부 (이진 분류)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8D5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처리 방법별 분포 변화 &amp; 처리 속도(Wall Time)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38912" y="3310128"/>
            <a:ext cx="2670048" cy="1554480"/>
          </a:xfrm>
          <a:prstGeom prst="roundRect">
            <a:avLst>
              <a:gd name="adj" fmla="val 3810"/>
            </a:avLst>
          </a:prstGeom>
          <a:solidFill>
            <a:srgbClr val="E2EFE9"/>
          </a:solidFill>
          <a:ln w="9525">
            <a:solidFill>
              <a:srgbClr val="3D7A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341027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대치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365716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복잡도: O(N log N)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2373" y="3877126"/>
            <a:ext cx="1270168" cy="51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열별 중앙값 1회 계산</a:t>
            </a:r>
            <a:endParaRPr lang="en-US" sz="9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항상 </a:t>
            </a:r>
            <a:r>
              <a:rPr lang="en-US" sz="950" dirty="0" err="1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</a:t>
            </a: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5264" y="3310128"/>
            <a:ext cx="2670048" cy="1554480"/>
          </a:xfrm>
          <a:prstGeom prst="roundRect">
            <a:avLst>
              <a:gd name="adj" fmla="val 3810"/>
            </a:avLst>
          </a:prstGeom>
          <a:solidFill>
            <a:srgbClr val="FDF0E0"/>
          </a:solidFill>
          <a:ln w="9525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83280" y="341027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대치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65716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복잡도: O(N × cols × iter)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80943" y="3881521"/>
            <a:ext cx="1418689" cy="66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컬럼별 RandomForest 학습</a:t>
            </a:r>
            <a:endParaRPr lang="en-US" sz="9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비선형 </a:t>
            </a:r>
            <a:r>
              <a:rPr lang="en-US" sz="950" dirty="0" err="1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</a:t>
            </a: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53328" y="3310128"/>
            <a:ext cx="2670048" cy="1554480"/>
          </a:xfrm>
          <a:prstGeom prst="roundRect">
            <a:avLst>
              <a:gd name="adj" fmla="val 3810"/>
            </a:avLst>
          </a:prstGeom>
          <a:solidFill>
            <a:srgbClr val="EDE8F8"/>
          </a:solidFill>
          <a:ln w="9525">
            <a:solidFill>
              <a:srgbClr val="5A4A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99632" y="341027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 대치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365716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복잡도: O(N × iter)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43837" y="3881521"/>
            <a:ext cx="1465997" cy="40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BayesianRidge 체인 예측</a:t>
            </a:r>
            <a:endParaRPr lang="en-US" sz="9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선형 </a:t>
            </a:r>
            <a:r>
              <a:rPr lang="en-US" sz="950" dirty="0" err="1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</a:t>
            </a:r>
            <a:r>
              <a:rPr 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반영</a:t>
            </a:r>
            <a:endParaRPr lang="en-US" sz="95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5A9F314-963E-67F9-B7E2-28297E0ED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73" y="838166"/>
            <a:ext cx="6836374" cy="2436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5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1B828-0D59-FB6C-0B5F-EB38B2F0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60BCD7-379E-43FA-D3FA-A60483D696AD}"/>
              </a:ext>
            </a:extLst>
          </p:cNvPr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A8927D-E663-46AF-BA9C-51AC51DEF4DF}"/>
              </a:ext>
            </a:extLst>
          </p:cNvPr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처리 방법별 분포 변화 &amp; 처리 속도(Wall Time)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64794D-8293-49DB-2E46-7F0BBBE9A23C}"/>
              </a:ext>
            </a:extLst>
          </p:cNvPr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02AB68-00AE-18EC-7550-63045A6938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1963"/>
          <a:stretch>
            <a:fillRect/>
          </a:stretch>
        </p:blipFill>
        <p:spPr>
          <a:xfrm>
            <a:off x="1107528" y="928937"/>
            <a:ext cx="6746063" cy="2432989"/>
          </a:xfrm>
          <a:prstGeom prst="rect">
            <a:avLst/>
          </a:prstGeom>
        </p:spPr>
      </p:pic>
      <p:sp>
        <p:nvSpPr>
          <p:cNvPr id="7" name="Shape 16">
            <a:extLst>
              <a:ext uri="{FF2B5EF4-FFF2-40B4-BE49-F238E27FC236}">
                <a16:creationId xmlns:a16="http://schemas.microsoft.com/office/drawing/2014/main" id="{0FA3203B-D570-AA49-2822-3CE0291CE5BD}"/>
              </a:ext>
            </a:extLst>
          </p:cNvPr>
          <p:cNvSpPr/>
          <p:nvPr/>
        </p:nvSpPr>
        <p:spPr>
          <a:xfrm>
            <a:off x="1524914" y="3421772"/>
            <a:ext cx="6094171" cy="1474429"/>
          </a:xfrm>
          <a:prstGeom prst="roundRect">
            <a:avLst>
              <a:gd name="adj" fmla="val 4103"/>
            </a:avLst>
          </a:prstGeom>
          <a:solidFill>
            <a:srgbClr val="E2F5EC"/>
          </a:solidFill>
          <a:ln w="9525">
            <a:solidFill>
              <a:srgbClr val="2D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10B3882A-644F-3E56-20D3-BC3E91CECC2B}"/>
              </a:ext>
            </a:extLst>
          </p:cNvPr>
          <p:cNvSpPr/>
          <p:nvPr/>
        </p:nvSpPr>
        <p:spPr>
          <a:xfrm>
            <a:off x="1779740" y="347904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D7A5A"/>
                </a:solidFill>
                <a:latin typeface="Calibri" pitchFamily="34" charset="0"/>
                <a:cs typeface="Calibri" pitchFamily="34" charset="-120"/>
              </a:rPr>
              <a:t>분석 결과</a:t>
            </a:r>
            <a:endParaRPr lang="en-US" sz="105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DFC7D269-B3E7-6CB6-766B-FCFF1A41D6D5}"/>
              </a:ext>
            </a:extLst>
          </p:cNvPr>
          <p:cNvSpPr/>
          <p:nvPr/>
        </p:nvSpPr>
        <p:spPr>
          <a:xfrm>
            <a:off x="1955504" y="3734428"/>
            <a:ext cx="5162579" cy="849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950" dirty="0"/>
              <a:t>평균 값의 경우 세 방법 모두 같다고 볼 수 있다</a:t>
            </a:r>
            <a:r>
              <a:rPr lang="en-US" altLang="ko-KR" sz="950" dirty="0"/>
              <a:t>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950" dirty="0"/>
              <a:t>그러나 표준편차에서 </a:t>
            </a:r>
            <a:r>
              <a:rPr lang="en-US" altLang="ko-KR" sz="950" dirty="0"/>
              <a:t>Median</a:t>
            </a:r>
            <a:r>
              <a:rPr lang="ko-KR" altLang="en-US" sz="950" dirty="0"/>
              <a:t>의 경우 </a:t>
            </a:r>
            <a:r>
              <a:rPr lang="en-US" altLang="ko-KR" sz="950" dirty="0"/>
              <a:t>- 10.3% </a:t>
            </a:r>
            <a:r>
              <a:rPr lang="ko-KR" altLang="en-US" sz="950" dirty="0"/>
              <a:t>차이가 발생한다</a:t>
            </a:r>
            <a:r>
              <a:rPr lang="en-US" altLang="ko-KR" sz="950" dirty="0"/>
              <a:t>.</a:t>
            </a:r>
          </a:p>
          <a:p>
            <a:pPr>
              <a:lnSpc>
                <a:spcPct val="200000"/>
              </a:lnSpc>
            </a:pPr>
            <a:r>
              <a:rPr lang="en-US" sz="950" dirty="0"/>
              <a:t>  -&gt; </a:t>
            </a:r>
            <a:r>
              <a:rPr lang="ko-KR" altLang="en-US" sz="950" dirty="0" err="1"/>
              <a:t>결측치</a:t>
            </a:r>
            <a:r>
              <a:rPr lang="ko-KR" altLang="en-US" sz="950" dirty="0"/>
              <a:t> </a:t>
            </a:r>
            <a:r>
              <a:rPr lang="en-US" altLang="ko-KR" sz="950" dirty="0"/>
              <a:t>20% </a:t>
            </a:r>
            <a:r>
              <a:rPr lang="ko-KR" altLang="en-US" sz="950" dirty="0"/>
              <a:t>수준에서도 </a:t>
            </a:r>
            <a:r>
              <a:rPr lang="en-US" altLang="ko-KR" sz="950" dirty="0"/>
              <a:t>Median</a:t>
            </a:r>
            <a:r>
              <a:rPr lang="ko-KR" altLang="en-US" sz="950" dirty="0"/>
              <a:t>의 왜곡이 존재하므로</a:t>
            </a:r>
            <a:endParaRPr lang="en-US" altLang="ko-KR" sz="950" dirty="0"/>
          </a:p>
          <a:p>
            <a:pPr>
              <a:lnSpc>
                <a:spcPct val="200000"/>
              </a:lnSpc>
            </a:pPr>
            <a:r>
              <a:rPr lang="en-US" altLang="ko-KR" sz="950" dirty="0"/>
              <a:t>      </a:t>
            </a:r>
            <a:r>
              <a:rPr lang="ko-KR" altLang="en-US" sz="950" dirty="0"/>
              <a:t> </a:t>
            </a:r>
            <a:r>
              <a:rPr lang="ko-KR" altLang="en-US" sz="950" dirty="0" err="1"/>
              <a:t>결측률이</a:t>
            </a:r>
            <a:r>
              <a:rPr lang="ko-KR" altLang="en-US" sz="950" dirty="0"/>
              <a:t> 낮다고 해서 </a:t>
            </a:r>
            <a:r>
              <a:rPr lang="en-US" altLang="ko-KR" sz="950" dirty="0"/>
              <a:t>Median</a:t>
            </a:r>
            <a:r>
              <a:rPr lang="ko-KR" altLang="en-US" sz="950" dirty="0"/>
              <a:t>이 무조건 안전한 것은 아니다</a:t>
            </a:r>
            <a:r>
              <a:rPr lang="en-US" altLang="ko-KR" sz="950" dirty="0"/>
              <a:t>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35081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5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51E10-770E-7924-82B1-63FF8F2A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FC493B-9754-277F-6251-F087CBAD6C32}"/>
              </a:ext>
            </a:extLst>
          </p:cNvPr>
          <p:cNvSpPr/>
          <p:nvPr/>
        </p:nvSpPr>
        <p:spPr>
          <a:xfrm>
            <a:off x="280327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C678BC-0C5C-6A5A-B06C-8A22B5A37D30}"/>
              </a:ext>
            </a:extLst>
          </p:cNvPr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처리 방법별 분포 변화 &amp; 처리 속도(Wall Time)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19753E7-6799-D373-49C3-2B5D59058ADD}"/>
              </a:ext>
            </a:extLst>
          </p:cNvPr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077ED3-D6D4-0735-72CE-712937B3CC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349" b="31335"/>
          <a:stretch>
            <a:fillRect/>
          </a:stretch>
        </p:blipFill>
        <p:spPr>
          <a:xfrm>
            <a:off x="1107528" y="1358869"/>
            <a:ext cx="6746063" cy="2003057"/>
          </a:xfrm>
          <a:prstGeom prst="rect">
            <a:avLst/>
          </a:prstGeom>
        </p:spPr>
      </p:pic>
      <p:sp>
        <p:nvSpPr>
          <p:cNvPr id="8" name="Shape 16">
            <a:extLst>
              <a:ext uri="{FF2B5EF4-FFF2-40B4-BE49-F238E27FC236}">
                <a16:creationId xmlns:a16="http://schemas.microsoft.com/office/drawing/2014/main" id="{889D04F8-65E7-F6AC-3C37-EDD8CF4FACB8}"/>
              </a:ext>
            </a:extLst>
          </p:cNvPr>
          <p:cNvSpPr/>
          <p:nvPr/>
        </p:nvSpPr>
        <p:spPr>
          <a:xfrm>
            <a:off x="1524914" y="3421772"/>
            <a:ext cx="6094171" cy="1474429"/>
          </a:xfrm>
          <a:prstGeom prst="roundRect">
            <a:avLst>
              <a:gd name="adj" fmla="val 4103"/>
            </a:avLst>
          </a:prstGeom>
          <a:solidFill>
            <a:srgbClr val="E2F5EC"/>
          </a:solidFill>
          <a:ln w="9525">
            <a:solidFill>
              <a:srgbClr val="2D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6F44042D-A55F-6705-2AFF-2635ED787805}"/>
              </a:ext>
            </a:extLst>
          </p:cNvPr>
          <p:cNvSpPr/>
          <p:nvPr/>
        </p:nvSpPr>
        <p:spPr>
          <a:xfrm>
            <a:off x="1779740" y="347904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D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</a:t>
            </a:r>
            <a:endParaRPr lang="en-US" sz="105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A7636CA1-8712-C0E5-FD71-B9B113BB0ADF}"/>
              </a:ext>
            </a:extLst>
          </p:cNvPr>
          <p:cNvSpPr/>
          <p:nvPr/>
        </p:nvSpPr>
        <p:spPr>
          <a:xfrm>
            <a:off x="1955505" y="3734428"/>
            <a:ext cx="4023360" cy="849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950" dirty="0" err="1"/>
              <a:t>결측치</a:t>
            </a:r>
            <a:r>
              <a:rPr lang="ko-KR" altLang="en-US" sz="950" dirty="0"/>
              <a:t> </a:t>
            </a:r>
            <a:r>
              <a:rPr lang="en-US" altLang="ko-KR" sz="950" dirty="0"/>
              <a:t>49% </a:t>
            </a:r>
            <a:r>
              <a:rPr lang="ko-KR" altLang="en-US" sz="950" dirty="0"/>
              <a:t>정도의 데이터 셋의 경우</a:t>
            </a:r>
            <a:r>
              <a:rPr lang="en-US" altLang="ko-KR" sz="950" dirty="0"/>
              <a:t>(</a:t>
            </a:r>
            <a:r>
              <a:rPr lang="en-US" altLang="ko-KR" sz="950" dirty="0" err="1"/>
              <a:t>Nolmp</a:t>
            </a:r>
            <a:r>
              <a:rPr lang="en-US" altLang="ko-KR" sz="950" dirty="0"/>
              <a:t> </a:t>
            </a:r>
            <a:r>
              <a:rPr lang="ko-KR" altLang="en-US" sz="950" dirty="0"/>
              <a:t>기준 표준편차 </a:t>
            </a:r>
            <a:r>
              <a:rPr lang="en-US" altLang="ko-KR" sz="950" dirty="0"/>
              <a:t>118.6)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950" dirty="0"/>
              <a:t> </a:t>
            </a:r>
            <a:r>
              <a:rPr lang="en-US" altLang="ko-KR" sz="950" dirty="0"/>
              <a:t>Median</a:t>
            </a:r>
            <a:r>
              <a:rPr lang="ko-KR" altLang="en-US" sz="950" dirty="0"/>
              <a:t>의 표준편차가 </a:t>
            </a:r>
            <a:r>
              <a:rPr lang="en-US" altLang="ko-KR" sz="950" dirty="0"/>
              <a:t>86.3</a:t>
            </a:r>
            <a:r>
              <a:rPr lang="ko-KR" altLang="en-US" sz="950" dirty="0"/>
              <a:t>으로 </a:t>
            </a:r>
            <a:r>
              <a:rPr lang="en-US" altLang="ko-KR" sz="950" dirty="0"/>
              <a:t>26.8% </a:t>
            </a:r>
            <a:r>
              <a:rPr lang="ko-KR" altLang="en-US" sz="950" dirty="0"/>
              <a:t>감소</a:t>
            </a:r>
            <a:endParaRPr lang="en-US" altLang="ko-KR" sz="9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950" dirty="0"/>
              <a:t>   -&gt; </a:t>
            </a:r>
            <a:r>
              <a:rPr lang="ko-KR" altLang="en-US" sz="950" dirty="0"/>
              <a:t>데이터 왜곡 현상이 강하게 나타난다</a:t>
            </a:r>
            <a:endParaRPr lang="en-US" altLang="ko-KR" sz="95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950" dirty="0"/>
              <a:t>RF: 98.5,   MICE: 96.5</a:t>
            </a:r>
          </a:p>
        </p:txBody>
      </p:sp>
    </p:spTree>
    <p:extLst>
      <p:ext uri="{BB962C8B-B14F-4D97-AF65-F5344CB8AC3E}">
        <p14:creationId xmlns:p14="http://schemas.microsoft.com/office/powerpoint/2010/main" val="108378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8D5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LightGBM — 처리 방법별 성능 차이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38912" y="1133218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DF0E0"/>
          </a:solidFill>
          <a:ln w="9525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18808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특성: 내부 결측치 처리 능력 보유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42582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split 방식으로 결측값을 자체 분기 처리 → 대치 방법 차이가 타 모델보다 작음</a:t>
            </a:r>
            <a:endParaRPr lang="en-US" sz="900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815BA45-FB19-E625-D4CE-4D811BF48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688235"/>
              </p:ext>
            </p:extLst>
          </p:nvPr>
        </p:nvGraphicFramePr>
        <p:xfrm>
          <a:off x="438912" y="2504233"/>
          <a:ext cx="8298180" cy="2176749"/>
        </p:xfrm>
        <a:graphic>
          <a:graphicData uri="http://schemas.openxmlformats.org/drawingml/2006/table">
            <a:tbl>
              <a:tblPr/>
              <a:tblGrid>
                <a:gridCol w="2074545">
                  <a:extLst>
                    <a:ext uri="{9D8B030D-6E8A-4147-A177-3AD203B41FA5}">
                      <a16:colId xmlns:a16="http://schemas.microsoft.com/office/drawing/2014/main" val="1634589303"/>
                    </a:ext>
                  </a:extLst>
                </a:gridCol>
                <a:gridCol w="2074545">
                  <a:extLst>
                    <a:ext uri="{9D8B030D-6E8A-4147-A177-3AD203B41FA5}">
                      <a16:colId xmlns:a16="http://schemas.microsoft.com/office/drawing/2014/main" val="881809394"/>
                    </a:ext>
                  </a:extLst>
                </a:gridCol>
                <a:gridCol w="2074545">
                  <a:extLst>
                    <a:ext uri="{9D8B030D-6E8A-4147-A177-3AD203B41FA5}">
                      <a16:colId xmlns:a16="http://schemas.microsoft.com/office/drawing/2014/main" val="10829748"/>
                    </a:ext>
                  </a:extLst>
                </a:gridCol>
                <a:gridCol w="2074545">
                  <a:extLst>
                    <a:ext uri="{9D8B030D-6E8A-4147-A177-3AD203B41FA5}">
                      <a16:colId xmlns:a16="http://schemas.microsoft.com/office/drawing/2014/main" val="1776981932"/>
                    </a:ext>
                  </a:extLst>
                </a:gridCol>
              </a:tblGrid>
              <a:tr h="32727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GridSearch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Optuna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452642"/>
                  </a:ext>
                </a:extLst>
              </a:tr>
              <a:tr h="369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탐색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전수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베이지안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0152"/>
                  </a:ext>
                </a:extLst>
              </a:tr>
              <a:tr h="369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가장 빠름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느림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275693"/>
                  </a:ext>
                </a:extLst>
              </a:tr>
              <a:tr h="369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최적화 품질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220651"/>
                  </a:ext>
                </a:extLst>
              </a:tr>
              <a:tr h="369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탐색 범위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불필요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직접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범위만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663825"/>
                  </a:ext>
                </a:extLst>
              </a:tr>
              <a:tr h="369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파라미터 수 많을 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무관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비효율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효율적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400634"/>
                  </a:ext>
                </a:extLst>
              </a:tr>
            </a:tbl>
          </a:graphicData>
        </a:graphic>
      </p:graphicFrame>
      <p:sp>
        <p:nvSpPr>
          <p:cNvPr id="25" name="Shape 16">
            <a:extLst>
              <a:ext uri="{FF2B5EF4-FFF2-40B4-BE49-F238E27FC236}">
                <a16:creationId xmlns:a16="http://schemas.microsoft.com/office/drawing/2014/main" id="{68035170-B38C-FE5D-17FE-31FA4089A9CB}"/>
              </a:ext>
            </a:extLst>
          </p:cNvPr>
          <p:cNvSpPr/>
          <p:nvPr/>
        </p:nvSpPr>
        <p:spPr>
          <a:xfrm>
            <a:off x="2518981" y="2106416"/>
            <a:ext cx="3923158" cy="297731"/>
          </a:xfrm>
          <a:prstGeom prst="roundRect">
            <a:avLst>
              <a:gd name="adj" fmla="val 4103"/>
            </a:avLst>
          </a:prstGeom>
          <a:solidFill>
            <a:srgbClr val="E2F5EC"/>
          </a:solidFill>
          <a:ln w="9525">
            <a:solidFill>
              <a:srgbClr val="2D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32008DB5-166D-CDD2-751A-2B787D7AFA58}"/>
              </a:ext>
            </a:extLst>
          </p:cNvPr>
          <p:cNvSpPr/>
          <p:nvPr/>
        </p:nvSpPr>
        <p:spPr>
          <a:xfrm>
            <a:off x="2651760" y="2136409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2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b="1" dirty="0" err="1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</a:t>
            </a:r>
            <a:r>
              <a:rPr lang="ko-KR" altLang="en-US" sz="12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파라미터 튜닝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5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FE1D5-7537-5C0A-5EF2-5A8ADBB2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F3364F-7EAD-30C4-D4BF-35407B6D98B7}"/>
              </a:ext>
            </a:extLst>
          </p:cNvPr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F70A4E-5977-8F52-B09E-C6EB06BE9747}"/>
              </a:ext>
            </a:extLst>
          </p:cNvPr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LightGBM — 처리 방법별 성능 차이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CDF40C-641D-4C87-E161-C5360E9233C9}"/>
              </a:ext>
            </a:extLst>
          </p:cNvPr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991930D-BF51-F04B-D7DA-B9BDFD9B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29" y="1024018"/>
            <a:ext cx="8409742" cy="2091871"/>
          </a:xfrm>
          <a:prstGeom prst="rect">
            <a:avLst/>
          </a:prstGeom>
        </p:spPr>
      </p:pic>
      <p:sp>
        <p:nvSpPr>
          <p:cNvPr id="18" name="Shape 12">
            <a:extLst>
              <a:ext uri="{FF2B5EF4-FFF2-40B4-BE49-F238E27FC236}">
                <a16:creationId xmlns:a16="http://schemas.microsoft.com/office/drawing/2014/main" id="{ED57B642-6103-E30A-6F7F-82C05B6A2F70}"/>
              </a:ext>
            </a:extLst>
          </p:cNvPr>
          <p:cNvSpPr/>
          <p:nvPr/>
        </p:nvSpPr>
        <p:spPr>
          <a:xfrm>
            <a:off x="2384066" y="3261323"/>
            <a:ext cx="4192988" cy="1534705"/>
          </a:xfrm>
          <a:prstGeom prst="roundRect">
            <a:avLst>
              <a:gd name="adj" fmla="val 4494"/>
            </a:avLst>
          </a:prstGeom>
          <a:solidFill>
            <a:srgbClr val="FAEAEA"/>
          </a:solidFill>
          <a:ln w="9525">
            <a:solidFill>
              <a:srgbClr val="7A3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E0222E7-A9F7-68F2-4735-64D324C14D95}"/>
              </a:ext>
            </a:extLst>
          </p:cNvPr>
          <p:cNvSpPr/>
          <p:nvPr/>
        </p:nvSpPr>
        <p:spPr>
          <a:xfrm>
            <a:off x="2582167" y="3360749"/>
            <a:ext cx="629458" cy="28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D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8644A1A-3ADA-D25D-B0E8-B677FD1E5A4D}"/>
              </a:ext>
            </a:extLst>
          </p:cNvPr>
          <p:cNvSpPr/>
          <p:nvPr/>
        </p:nvSpPr>
        <p:spPr>
          <a:xfrm>
            <a:off x="720516" y="3587067"/>
            <a:ext cx="1518944" cy="89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endParaRPr lang="en-US" sz="9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58534AE-B557-1622-DC88-20FFFD569EF7}"/>
              </a:ext>
            </a:extLst>
          </p:cNvPr>
          <p:cNvSpPr/>
          <p:nvPr/>
        </p:nvSpPr>
        <p:spPr>
          <a:xfrm>
            <a:off x="2651760" y="3674750"/>
            <a:ext cx="3657600" cy="889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튜닝의 효과는 일관되게 존재</a:t>
            </a:r>
            <a:endParaRPr lang="en-US" altLang="ko-KR" sz="1000" dirty="0">
              <a:solidFill>
                <a:srgbClr val="3C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C4444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3C4444"/>
                </a:solidFill>
                <a:latin typeface="Calibri" pitchFamily="34" charset="0"/>
                <a:cs typeface="Calibri" pitchFamily="34" charset="-120"/>
              </a:rPr>
              <a:t>LightGBM</a:t>
            </a:r>
            <a:r>
              <a:rPr lang="ko-KR" altLang="en-US" sz="1000" dirty="0">
                <a:solidFill>
                  <a:srgbClr val="3C4444"/>
                </a:solidFill>
                <a:latin typeface="Calibri" pitchFamily="34" charset="0"/>
                <a:cs typeface="Calibri" pitchFamily="34" charset="-120"/>
              </a:rPr>
              <a:t>의 내부 </a:t>
            </a:r>
            <a:r>
              <a:rPr lang="ko-KR" altLang="en-US" sz="1000" dirty="0" err="1">
                <a:solidFill>
                  <a:srgbClr val="3C4444"/>
                </a:solidFill>
                <a:latin typeface="Calibri" pitchFamily="34" charset="0"/>
                <a:cs typeface="Calibri" pitchFamily="34" charset="-120"/>
              </a:rPr>
              <a:t>결측치</a:t>
            </a:r>
            <a:r>
              <a:rPr lang="ko-KR" altLang="en-US" sz="1000" dirty="0">
                <a:solidFill>
                  <a:srgbClr val="3C4444"/>
                </a:solidFill>
                <a:latin typeface="Calibri" pitchFamily="34" charset="0"/>
                <a:cs typeface="Calibri" pitchFamily="34" charset="-120"/>
              </a:rPr>
              <a:t> 처리로 인한 노이즈는 여전히 존재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9052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5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5DC7D-E652-BB0E-4877-0F6DB5F9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AE1F85-3DA3-5D5A-2A47-CEF1FF75228F}"/>
              </a:ext>
            </a:extLst>
          </p:cNvPr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DD9A08-8E0C-7392-F381-8C0D17CAA5F7}"/>
              </a:ext>
            </a:extLst>
          </p:cNvPr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LightGBM — 처리 방법별 성능 차이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831623-3BDF-AF99-AA86-475F9210E743}"/>
              </a:ext>
            </a:extLst>
          </p:cNvPr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25FC9FB-0173-5D5C-7750-38A56D67E205}"/>
              </a:ext>
            </a:extLst>
          </p:cNvPr>
          <p:cNvSpPr/>
          <p:nvPr/>
        </p:nvSpPr>
        <p:spPr>
          <a:xfrm>
            <a:off x="438912" y="1029989"/>
            <a:ext cx="2287862" cy="335900"/>
          </a:xfrm>
          <a:prstGeom prst="roundRect">
            <a:avLst>
              <a:gd name="adj" fmla="val 10256"/>
            </a:avLst>
          </a:prstGeom>
          <a:solidFill>
            <a:srgbClr val="FDF0E0"/>
          </a:solidFill>
          <a:ln w="9525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3B7F8EC-B4A8-17B8-F114-B8348C086643}"/>
              </a:ext>
            </a:extLst>
          </p:cNvPr>
          <p:cNvSpPr/>
          <p:nvPr/>
        </p:nvSpPr>
        <p:spPr>
          <a:xfrm>
            <a:off x="566928" y="1079067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r>
              <a:rPr lang="ko-KR" altLang="en-US" sz="10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</a:t>
            </a:r>
            <a:r>
              <a:rPr lang="en-US" altLang="ko-KR" sz="10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700CCBD-3A30-A672-F18E-11273EB6F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40656"/>
            <a:ext cx="6252087" cy="2465433"/>
          </a:xfrm>
          <a:prstGeom prst="rect">
            <a:avLst/>
          </a:prstGeom>
        </p:spPr>
      </p:pic>
      <p:sp>
        <p:nvSpPr>
          <p:cNvPr id="19" name="Shape 16">
            <a:extLst>
              <a:ext uri="{FF2B5EF4-FFF2-40B4-BE49-F238E27FC236}">
                <a16:creationId xmlns:a16="http://schemas.microsoft.com/office/drawing/2014/main" id="{EB7C8056-B08A-E173-37AF-CD0AFB32D61D}"/>
              </a:ext>
            </a:extLst>
          </p:cNvPr>
          <p:cNvSpPr/>
          <p:nvPr/>
        </p:nvSpPr>
        <p:spPr>
          <a:xfrm>
            <a:off x="6771489" y="1989692"/>
            <a:ext cx="2017701" cy="2104560"/>
          </a:xfrm>
          <a:prstGeom prst="roundRect">
            <a:avLst>
              <a:gd name="adj" fmla="val 4103"/>
            </a:avLst>
          </a:prstGeom>
          <a:solidFill>
            <a:srgbClr val="E2F5EC"/>
          </a:solidFill>
          <a:ln w="9525">
            <a:solidFill>
              <a:srgbClr val="2D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6FE28F3-D3E2-2DA2-60F4-582769E9BB22}"/>
              </a:ext>
            </a:extLst>
          </p:cNvPr>
          <p:cNvSpPr/>
          <p:nvPr/>
        </p:nvSpPr>
        <p:spPr>
          <a:xfrm>
            <a:off x="6976408" y="2241591"/>
            <a:ext cx="1347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D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0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D54F9AF-E6BF-9672-7DBC-5B929E90DE8F}"/>
              </a:ext>
            </a:extLst>
          </p:cNvPr>
          <p:cNvSpPr/>
          <p:nvPr/>
        </p:nvSpPr>
        <p:spPr>
          <a:xfrm>
            <a:off x="6903720" y="2101529"/>
            <a:ext cx="1709161" cy="210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200000"/>
              </a:lnSpc>
            </a:pPr>
            <a:r>
              <a:rPr lang="en-US" sz="1000" dirty="0" err="1"/>
              <a:t>Nolmp</a:t>
            </a:r>
            <a:r>
              <a:rPr lang="ko-KR" altLang="en-US" sz="1000" dirty="0"/>
              <a:t>의 경우 버려진 데이터로 인해 </a:t>
            </a:r>
            <a:r>
              <a:rPr lang="en-US" altLang="ko-KR" sz="1000" dirty="0"/>
              <a:t>Median, RF, MICE</a:t>
            </a:r>
            <a:r>
              <a:rPr lang="ko-KR" altLang="en-US" sz="1000" dirty="0"/>
              <a:t>와 비교하는 것은 데이터 자체가 다른 경우와 같으므로 제외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51584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5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30A1A-4919-5C8D-3334-7C800936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05C7AE-D049-16D0-D16E-79612EF1670E}"/>
              </a:ext>
            </a:extLst>
          </p:cNvPr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411C71-98A8-5296-5EB5-33F269BC2A65}"/>
              </a:ext>
            </a:extLst>
          </p:cNvPr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LightGBM — 처리 방법별 성능 차이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745E39-D5DE-8FFA-1FF7-E28621623EA2}"/>
              </a:ext>
            </a:extLst>
          </p:cNvPr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EB2E050-7332-1FE9-F2E4-170C9ADB37B8}"/>
              </a:ext>
            </a:extLst>
          </p:cNvPr>
          <p:cNvSpPr/>
          <p:nvPr/>
        </p:nvSpPr>
        <p:spPr>
          <a:xfrm>
            <a:off x="6976408" y="2241591"/>
            <a:ext cx="1347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D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0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AFB736-D06E-FB94-E689-DF8ADC94E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2626"/>
            <a:ext cx="7950706" cy="3152315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0C4926FE-3258-DA2F-2E95-FE2F991484A7}"/>
              </a:ext>
            </a:extLst>
          </p:cNvPr>
          <p:cNvSpPr/>
          <p:nvPr/>
        </p:nvSpPr>
        <p:spPr>
          <a:xfrm>
            <a:off x="438912" y="1029989"/>
            <a:ext cx="2287862" cy="335900"/>
          </a:xfrm>
          <a:prstGeom prst="roundRect">
            <a:avLst>
              <a:gd name="adj" fmla="val 10256"/>
            </a:avLst>
          </a:prstGeom>
          <a:solidFill>
            <a:srgbClr val="FDF0E0"/>
          </a:solidFill>
          <a:ln w="9525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8D52C2E-E774-9D6A-EED5-B4A69EBC5716}"/>
              </a:ext>
            </a:extLst>
          </p:cNvPr>
          <p:cNvSpPr/>
          <p:nvPr/>
        </p:nvSpPr>
        <p:spPr>
          <a:xfrm>
            <a:off x="566928" y="1079067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r>
              <a:rPr lang="ko-KR" altLang="en-US" sz="10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</a:t>
            </a:r>
            <a:r>
              <a:rPr lang="en-US" altLang="ko-KR" sz="10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59788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5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83EE0-BF30-CC2B-FCB7-C8996AAE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1730D9-1411-0363-9F7E-EA5EDB184591}"/>
              </a:ext>
            </a:extLst>
          </p:cNvPr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77FD47-E37F-15FD-6884-15877D70EC8E}"/>
              </a:ext>
            </a:extLst>
          </p:cNvPr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LightGBM — 처리 방법별 성능 차이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ABC4AD-2F74-BAC8-EB34-CEDE53BE27E4}"/>
              </a:ext>
            </a:extLst>
          </p:cNvPr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F8AC1F-01CB-40FF-4AD7-1FE843C69115}"/>
              </a:ext>
            </a:extLst>
          </p:cNvPr>
          <p:cNvSpPr/>
          <p:nvPr/>
        </p:nvSpPr>
        <p:spPr>
          <a:xfrm>
            <a:off x="438912" y="987552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DF0E0"/>
          </a:solidFill>
          <a:ln w="9525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FB02D6-45E5-4381-D76A-4F5D5152A757}"/>
              </a:ext>
            </a:extLst>
          </p:cNvPr>
          <p:cNvSpPr/>
          <p:nvPr/>
        </p:nvSpPr>
        <p:spPr>
          <a:xfrm>
            <a:off x="566928" y="1042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특성: 내부 결측치 처리 능력 보유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50DFFD2-ECC7-685C-084B-8D4B12FA409E}"/>
              </a:ext>
            </a:extLst>
          </p:cNvPr>
          <p:cNvSpPr/>
          <p:nvPr/>
        </p:nvSpPr>
        <p:spPr>
          <a:xfrm>
            <a:off x="566928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split 방식으로 결측값을 자체 분기 처리 → 대치 방법 차이가 타 모델보다 작음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ED87E4-63CC-E6EE-A03B-4AB2B6E422A7}"/>
              </a:ext>
            </a:extLst>
          </p:cNvPr>
          <p:cNvSpPr/>
          <p:nvPr/>
        </p:nvSpPr>
        <p:spPr>
          <a:xfrm>
            <a:off x="438912" y="182880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데이터셋별 AUC </a:t>
            </a:r>
            <a:r>
              <a:rPr lang="en-US" sz="1000" b="1" dirty="0" err="1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r>
              <a:rPr lang="en-US" sz="10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00" b="1" dirty="0" err="1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0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Default)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D888DA7-02D2-C2A0-EDA9-BA7B9E78F618}"/>
              </a:ext>
            </a:extLst>
          </p:cNvPr>
          <p:cNvSpPr/>
          <p:nvPr/>
        </p:nvSpPr>
        <p:spPr>
          <a:xfrm>
            <a:off x="5679683" y="1526553"/>
            <a:ext cx="2620824" cy="2642671"/>
          </a:xfrm>
          <a:prstGeom prst="roundRect">
            <a:avLst>
              <a:gd name="adj" fmla="val 2410"/>
            </a:avLst>
          </a:prstGeom>
          <a:solidFill>
            <a:srgbClr val="E2EFE9"/>
          </a:solidFill>
          <a:ln w="9525">
            <a:solidFill>
              <a:srgbClr val="3D7A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CB2B7C8-806A-85E8-CDED-6BA9EC443C9D}"/>
              </a:ext>
            </a:extLst>
          </p:cNvPr>
          <p:cNvSpPr/>
          <p:nvPr/>
        </p:nvSpPr>
        <p:spPr>
          <a:xfrm>
            <a:off x="5806440" y="1695580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 해석</a:t>
            </a:r>
            <a:endParaRPr lang="en-US" sz="1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0E5BD69-A955-0643-F557-FCF97C34F954}"/>
              </a:ext>
            </a:extLst>
          </p:cNvPr>
          <p:cNvSpPr/>
          <p:nvPr/>
        </p:nvSpPr>
        <p:spPr>
          <a:xfrm>
            <a:off x="5779884" y="1819024"/>
            <a:ext cx="2420422" cy="1791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300000"/>
              </a:lnSpc>
              <a:buNone/>
            </a:pPr>
            <a:r>
              <a:rPr lang="ko-KR" altLang="en-US" sz="1200" spc="300" dirty="0">
                <a:latin typeface="HY견고딕" panose="02030600000101010101" pitchFamily="18" charset="-127"/>
                <a:ea typeface="HY견고딕" panose="02030600000101010101" pitchFamily="18" charset="-127"/>
              </a:rPr>
              <a:t>분포 왜곡이 곧 성능 하락은 아니다</a:t>
            </a:r>
            <a:r>
              <a:rPr lang="en-US" altLang="ko-KR" sz="1200" spc="3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0" indent="0" algn="ctr">
              <a:lnSpc>
                <a:spcPct val="300000"/>
              </a:lnSpc>
              <a:buNone/>
            </a:pPr>
            <a:r>
              <a:rPr lang="ko-KR" altLang="en-US" sz="1200" spc="300" dirty="0">
                <a:latin typeface="HY견고딕" panose="02030600000101010101" pitchFamily="18" charset="-127"/>
                <a:ea typeface="HY견고딕" panose="02030600000101010101" pitchFamily="18" charset="-127"/>
              </a:rPr>
              <a:t>단</a:t>
            </a:r>
            <a:r>
              <a:rPr lang="en-US" altLang="ko-KR" sz="1200" spc="3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200" spc="3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결측률이</a:t>
            </a:r>
            <a:r>
              <a:rPr lang="ko-KR" altLang="en-US" sz="1200" spc="3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높을수록 </a:t>
            </a:r>
            <a:endParaRPr lang="en-US" altLang="ko-KR" sz="1200" spc="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 algn="ctr">
              <a:lnSpc>
                <a:spcPct val="300000"/>
              </a:lnSpc>
              <a:buNone/>
            </a:pPr>
            <a:r>
              <a:rPr lang="ko-KR" altLang="en-US" sz="1200" spc="300" dirty="0">
                <a:latin typeface="HY견고딕" panose="02030600000101010101" pitchFamily="18" charset="-127"/>
                <a:ea typeface="HY견고딕" panose="02030600000101010101" pitchFamily="18" charset="-127"/>
              </a:rPr>
              <a:t>그 연결고리가 강해진다</a:t>
            </a:r>
            <a:endParaRPr lang="en-US" sz="1200" spc="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E55BDC5-1CB8-32FA-69A9-46B2FAC86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813794"/>
              </p:ext>
            </p:extLst>
          </p:nvPr>
        </p:nvGraphicFramePr>
        <p:xfrm>
          <a:off x="411480" y="2218595"/>
          <a:ext cx="5056633" cy="2051425"/>
        </p:xfrm>
        <a:graphic>
          <a:graphicData uri="http://schemas.openxmlformats.org/drawingml/2006/table">
            <a:tbl>
              <a:tblPr/>
              <a:tblGrid>
                <a:gridCol w="1179881">
                  <a:extLst>
                    <a:ext uri="{9D8B030D-6E8A-4147-A177-3AD203B41FA5}">
                      <a16:colId xmlns:a16="http://schemas.microsoft.com/office/drawing/2014/main" val="90328760"/>
                    </a:ext>
                  </a:extLst>
                </a:gridCol>
                <a:gridCol w="969188">
                  <a:extLst>
                    <a:ext uri="{9D8B030D-6E8A-4147-A177-3AD203B41FA5}">
                      <a16:colId xmlns:a16="http://schemas.microsoft.com/office/drawing/2014/main" val="3672214310"/>
                    </a:ext>
                  </a:extLst>
                </a:gridCol>
                <a:gridCol w="969188">
                  <a:extLst>
                    <a:ext uri="{9D8B030D-6E8A-4147-A177-3AD203B41FA5}">
                      <a16:colId xmlns:a16="http://schemas.microsoft.com/office/drawing/2014/main" val="2506943499"/>
                    </a:ext>
                  </a:extLst>
                </a:gridCol>
                <a:gridCol w="969188">
                  <a:extLst>
                    <a:ext uri="{9D8B030D-6E8A-4147-A177-3AD203B41FA5}">
                      <a16:colId xmlns:a16="http://schemas.microsoft.com/office/drawing/2014/main" val="1359533965"/>
                    </a:ext>
                  </a:extLst>
                </a:gridCol>
                <a:gridCol w="969188">
                  <a:extLst>
                    <a:ext uri="{9D8B030D-6E8A-4147-A177-3AD203B41FA5}">
                      <a16:colId xmlns:a16="http://schemas.microsoft.com/office/drawing/2014/main" val="1125788597"/>
                    </a:ext>
                  </a:extLst>
                </a:gridCol>
              </a:tblGrid>
              <a:tr h="3220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모델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Titanic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Pima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Telco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Credit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3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237920"/>
                  </a:ext>
                </a:extLst>
              </a:tr>
              <a:tr h="432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LightGBM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0.868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0.823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0.852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7A5A"/>
                          </a:solidFill>
                        </a:rPr>
                        <a:t>0.973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88283"/>
                  </a:ext>
                </a:extLst>
              </a:tr>
              <a:tr h="432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LGBM-Optuna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7A5A"/>
                          </a:solidFill>
                        </a:rPr>
                        <a:t>0.876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7A5A"/>
                          </a:solidFill>
                        </a:rPr>
                        <a:t>0.837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7A5A"/>
                          </a:solidFill>
                        </a:rPr>
                        <a:t>0.861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7A5A"/>
                          </a:solidFill>
                        </a:rPr>
                        <a:t>0.975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293999"/>
                  </a:ext>
                </a:extLst>
              </a:tr>
              <a:tr h="432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RandomForest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0.855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0.818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0.838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0.958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004683"/>
                  </a:ext>
                </a:extLst>
              </a:tr>
              <a:tr h="432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LogisticReg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0.841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0.793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0.821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0.942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008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642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8D5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MLP(5</a:t>
            </a:r>
            <a:r>
              <a:rPr lang="ko-KR" alt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</a:t>
            </a:r>
            <a:r>
              <a:rPr lang="en-US" altLang="ko-KR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</a:t>
            </a:r>
            <a:r>
              <a:rPr lang="en-US" altLang="ko-KR" sz="2700" b="1" dirty="0" err="1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</a:t>
            </a:r>
            <a:r>
              <a:rPr lang="en-US" altLang="ko-KR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700" b="1" dirty="0" err="1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방법별</a:t>
            </a:r>
            <a:r>
              <a:rPr lang="en-US" altLang="ko-KR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700" b="1" dirty="0" err="1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r>
              <a:rPr lang="en-US" altLang="ko-KR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700" b="1" dirty="0" err="1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116405" y="937259"/>
            <a:ext cx="2649789" cy="3684019"/>
          </a:xfrm>
          <a:prstGeom prst="roundRect">
            <a:avLst>
              <a:gd name="adj" fmla="val 9756"/>
            </a:avLst>
          </a:prstGeom>
          <a:solidFill>
            <a:srgbClr val="E2F5EC"/>
          </a:solidFill>
          <a:ln w="9525">
            <a:solidFill>
              <a:srgbClr val="2D7A5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1"/>
          <p:cNvSpPr/>
          <p:nvPr/>
        </p:nvSpPr>
        <p:spPr>
          <a:xfrm>
            <a:off x="6270330" y="1041895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인사이트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5640" y="1436563"/>
            <a:ext cx="2495864" cy="3124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MLP</a:t>
            </a:r>
            <a:r>
              <a:rPr lang="ko-KR" altLang="en-US" sz="1000" b="1" dirty="0"/>
              <a:t>는 대치 방법 변화에 거의 무감각하다</a:t>
            </a:r>
            <a:endParaRPr lang="ko-KR" altLang="en-US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대부분의 셀이 </a:t>
            </a:r>
            <a:r>
              <a:rPr lang="en-US" altLang="ko-KR" sz="1000" dirty="0"/>
              <a:t>±0.001 </a:t>
            </a:r>
            <a:r>
              <a:rPr lang="ko-KR" altLang="en-US" sz="1000" dirty="0"/>
              <a:t>수준으로 사실상 </a:t>
            </a:r>
            <a:r>
              <a:rPr lang="en-US" altLang="ko-KR" sz="1000" dirty="0"/>
              <a:t>0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Pima</a:t>
            </a:r>
            <a:r>
              <a:rPr lang="ko-KR" altLang="en-US" sz="1000" dirty="0"/>
              <a:t>에서 </a:t>
            </a:r>
            <a:r>
              <a:rPr lang="en-US" altLang="ko-KR" sz="1000" dirty="0"/>
              <a:t>RF</a:t>
            </a:r>
            <a:r>
              <a:rPr lang="ko-KR" altLang="en-US" sz="1000" dirty="0"/>
              <a:t>가 </a:t>
            </a:r>
            <a:r>
              <a:rPr lang="en-US" altLang="ko-KR" sz="1000" dirty="0"/>
              <a:t>-0.0091</a:t>
            </a:r>
            <a:r>
              <a:rPr lang="ko-KR" altLang="en-US" sz="1000" dirty="0"/>
              <a:t>로 유일하게 눈에 띄는데</a:t>
            </a:r>
            <a:r>
              <a:rPr lang="en-US" altLang="ko-KR" sz="1000" dirty="0"/>
              <a:t>, </a:t>
            </a:r>
            <a:r>
              <a:rPr lang="ko-KR" altLang="en-US" sz="1000" dirty="0"/>
              <a:t>이는 </a:t>
            </a:r>
            <a:r>
              <a:rPr lang="en-US" altLang="ko-KR" sz="1000" dirty="0"/>
              <a:t>RF</a:t>
            </a:r>
            <a:r>
              <a:rPr lang="ko-KR" altLang="en-US" sz="1000" dirty="0"/>
              <a:t>대치가 오히려 </a:t>
            </a:r>
            <a:r>
              <a:rPr lang="en-US" altLang="ko-KR" sz="1000" dirty="0"/>
              <a:t>MLP</a:t>
            </a:r>
            <a:r>
              <a:rPr lang="ko-KR" altLang="en-US" sz="1000" dirty="0"/>
              <a:t>에 불리하게 작용한 것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b="1" dirty="0" err="1"/>
              <a:t>LightGBM</a:t>
            </a:r>
            <a:r>
              <a:rPr lang="ko-KR" altLang="en-US" sz="1000" b="1" dirty="0"/>
              <a:t>은 </a:t>
            </a:r>
            <a:r>
              <a:rPr lang="en-US" altLang="ko-KR" sz="1000" b="1" dirty="0"/>
              <a:t>Titanic</a:t>
            </a:r>
            <a:r>
              <a:rPr lang="ko-KR" altLang="en-US" sz="1000" b="1" dirty="0"/>
              <a:t>에서 </a:t>
            </a:r>
            <a:r>
              <a:rPr lang="en-US" altLang="ko-KR" sz="1000" b="1" dirty="0"/>
              <a:t>RF/MICE </a:t>
            </a:r>
            <a:r>
              <a:rPr lang="ko-KR" altLang="en-US" sz="1000" b="1" dirty="0"/>
              <a:t>대치가 뚜렷하게 유리</a:t>
            </a:r>
            <a:endParaRPr lang="ko-KR" altLang="en-US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RF +0.0165, MICE +0.0212</a:t>
            </a:r>
            <a:r>
              <a:rPr lang="ko-KR" altLang="en-US" sz="1000" dirty="0"/>
              <a:t>로 </a:t>
            </a:r>
            <a:r>
              <a:rPr lang="en-US" altLang="ko-KR" sz="1000" dirty="0"/>
              <a:t>Median </a:t>
            </a:r>
            <a:r>
              <a:rPr lang="ko-KR" altLang="en-US" sz="1000" dirty="0"/>
              <a:t>대비 확실한 개선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Pima</a:t>
            </a:r>
            <a:r>
              <a:rPr lang="ko-KR" altLang="en-US" sz="1000" dirty="0"/>
              <a:t>에서는 반대로 </a:t>
            </a:r>
            <a:r>
              <a:rPr lang="en-US" altLang="ko-KR" sz="1000" dirty="0"/>
              <a:t>RF -0.0117, MICE -0.0057</a:t>
            </a:r>
            <a:r>
              <a:rPr lang="ko-KR" altLang="en-US" sz="1000" dirty="0"/>
              <a:t>로 하락</a:t>
            </a:r>
            <a:endParaRPr lang="en-US" altLang="ko-KR" sz="1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291F8F5-9606-B0EB-5666-16339C94E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37260"/>
            <a:ext cx="5512901" cy="245122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D3C3E68-961B-688D-E588-45688F861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1" y="3385725"/>
            <a:ext cx="4847601" cy="1509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8D5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8595360" cy="4754880"/>
          </a:xfrm>
          <a:prstGeom prst="roundRect">
            <a:avLst>
              <a:gd name="adj" fmla="val 2308"/>
            </a:avLst>
          </a:prstGeom>
          <a:solidFill>
            <a:srgbClr val="F9FAF9"/>
          </a:solidFill>
          <a:ln w="9525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3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최종 결론 — 상황별 결측치 처리 권장 가이드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402336" cy="32004"/>
          </a:xfrm>
          <a:prstGeom prst="rect">
            <a:avLst/>
          </a:prstGeom>
          <a:solidFill>
            <a:srgbClr val="2D3E3B"/>
          </a:solidFill>
          <a:ln w="12700">
            <a:solidFill>
              <a:srgbClr val="2D3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504379"/>
            <a:ext cx="4160520" cy="1331903"/>
          </a:xfrm>
          <a:prstGeom prst="roundRect">
            <a:avLst>
              <a:gd name="adj" fmla="val 3265"/>
            </a:avLst>
          </a:prstGeom>
          <a:solidFill>
            <a:srgbClr val="E2EFE9"/>
          </a:solidFill>
          <a:ln w="9525">
            <a:solidFill>
              <a:srgbClr val="3D7A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33548" y="1554480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결측률 &lt; 5%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V="1">
            <a:off x="493775" y="1810511"/>
            <a:ext cx="3946813" cy="1"/>
          </a:xfrm>
          <a:prstGeom prst="line">
            <a:avLst/>
          </a:prstGeom>
          <a:noFill/>
          <a:ln w="6350">
            <a:solidFill>
              <a:srgbClr val="3D7A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1772" y="182661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</a:t>
            </a:r>
            <a:r>
              <a:rPr lang="ko-KR" altLang="en-US" sz="1200" b="1" dirty="0">
                <a:solidFill>
                  <a:srgbClr val="3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혹은 </a:t>
            </a:r>
            <a:r>
              <a:rPr lang="en-US" altLang="ko-KR" sz="1200" b="1" dirty="0">
                <a:solidFill>
                  <a:srgbClr val="3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4" y="2146650"/>
            <a:ext cx="3946813" cy="0"/>
          </a:xfrm>
          <a:prstGeom prst="line">
            <a:avLst/>
          </a:prstGeom>
          <a:noFill/>
          <a:ln w="3810">
            <a:solidFill>
              <a:srgbClr val="3D7A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1772" y="2197080"/>
            <a:ext cx="3978816" cy="56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900" dirty="0"/>
              <a:t>어떤 대치 방법을 써도 성능 차이가 없다</a:t>
            </a:r>
            <a:r>
              <a:rPr lang="en-US" altLang="ko-KR" sz="9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900" dirty="0"/>
              <a:t>Median</a:t>
            </a:r>
            <a:r>
              <a:rPr lang="ko-KR" altLang="en-US" sz="900" dirty="0"/>
              <a:t>을 쓰되</a:t>
            </a:r>
            <a:r>
              <a:rPr lang="en-US" altLang="ko-KR" sz="900" dirty="0"/>
              <a:t>, </a:t>
            </a:r>
            <a:r>
              <a:rPr lang="ko-KR" altLang="en-US" sz="900" dirty="0"/>
              <a:t>데이터 품질과 재사용성을 위해 </a:t>
            </a:r>
            <a:r>
              <a:rPr lang="en-US" altLang="ko-KR" sz="900" dirty="0"/>
              <a:t>MICE</a:t>
            </a:r>
            <a:r>
              <a:rPr lang="ko-KR" altLang="en-US" sz="900" dirty="0"/>
              <a:t>를 선택해도 손해는 없다</a:t>
            </a:r>
            <a:r>
              <a:rPr lang="en-US" altLang="ko-KR" sz="9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 dirty="0"/>
              <a:t>실무 표준인 </a:t>
            </a:r>
            <a:r>
              <a:rPr lang="en-US" altLang="ko-KR" sz="900" b="1" dirty="0"/>
              <a:t>MICE + </a:t>
            </a:r>
            <a:r>
              <a:rPr lang="en-US" altLang="ko-KR" sz="900" b="1" dirty="0" err="1"/>
              <a:t>LightGBM</a:t>
            </a:r>
            <a:r>
              <a:rPr lang="ko-KR" altLang="en-US" sz="900" dirty="0"/>
              <a:t>이 이 구간에서 충분히 유효하다</a:t>
            </a:r>
            <a:r>
              <a:rPr lang="en-US" altLang="ko-KR" sz="900" dirty="0"/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502914"/>
            <a:ext cx="4160520" cy="1333368"/>
          </a:xfrm>
          <a:prstGeom prst="roundRect">
            <a:avLst>
              <a:gd name="adj" fmla="val 3265"/>
            </a:avLst>
          </a:prstGeom>
          <a:solidFill>
            <a:srgbClr val="FDF0E0"/>
          </a:solidFill>
          <a:ln w="9525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89340" y="1548402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결측률 20~40%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89340" y="1795290"/>
            <a:ext cx="3939968" cy="6078"/>
          </a:xfrm>
          <a:prstGeom prst="line">
            <a:avLst/>
          </a:prstGeom>
          <a:noFill/>
          <a:ln w="6350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4689340" y="183643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</a:t>
            </a:r>
            <a:r>
              <a:rPr lang="ko-KR" altLang="en-US" sz="12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혹은 </a:t>
            </a:r>
            <a:r>
              <a:rPr lang="en-US" altLang="ko-KR" sz="1200" b="1" dirty="0">
                <a:solidFill>
                  <a:srgbClr val="B8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9340" y="2146650"/>
            <a:ext cx="3939968" cy="0"/>
          </a:xfrm>
          <a:prstGeom prst="line">
            <a:avLst/>
          </a:prstGeom>
          <a:noFill/>
          <a:ln w="3810">
            <a:solidFill>
              <a:srgbClr val="B87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93366" y="2202635"/>
            <a:ext cx="3935942" cy="580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900" dirty="0" err="1"/>
              <a:t>LightGBM</a:t>
            </a:r>
            <a:r>
              <a:rPr lang="ko-KR" altLang="en-US" sz="900" dirty="0"/>
              <a:t>에서는 </a:t>
            </a:r>
            <a:r>
              <a:rPr lang="en-US" altLang="ko-KR" sz="900" dirty="0"/>
              <a:t>RF</a:t>
            </a:r>
            <a:r>
              <a:rPr lang="ko-KR" altLang="en-US" sz="900" dirty="0"/>
              <a:t>대치와 </a:t>
            </a:r>
            <a:r>
              <a:rPr lang="en-US" altLang="ko-KR" sz="900" dirty="0"/>
              <a:t>MICE</a:t>
            </a:r>
            <a:r>
              <a:rPr lang="ko-KR" altLang="en-US" sz="900" dirty="0"/>
              <a:t>가 </a:t>
            </a:r>
            <a:r>
              <a:rPr lang="en-US" altLang="ko-KR" sz="900" dirty="0"/>
              <a:t>Median</a:t>
            </a:r>
            <a:r>
              <a:rPr lang="ko-KR" altLang="en-US" sz="900" dirty="0"/>
              <a:t>보다 소폭 우위를 보인다</a:t>
            </a:r>
            <a:r>
              <a:rPr lang="en-US" altLang="ko-KR" sz="9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 dirty="0"/>
              <a:t>단</a:t>
            </a:r>
            <a:r>
              <a:rPr lang="en-US" altLang="ko-KR" sz="900" dirty="0"/>
              <a:t>, </a:t>
            </a:r>
            <a:r>
              <a:rPr lang="ko-KR" altLang="en-US" sz="900" dirty="0"/>
              <a:t>전체 모델 평균으로는 방법 간 차이가 크지 않다</a:t>
            </a:r>
            <a:r>
              <a:rPr lang="en-US" altLang="ko-KR" sz="900" dirty="0"/>
              <a:t>. </a:t>
            </a:r>
            <a:endParaRPr lang="en-US" altLang="ko-KR" sz="900" b="1" dirty="0"/>
          </a:p>
          <a:p>
            <a:pPr>
              <a:lnSpc>
                <a:spcPct val="150000"/>
              </a:lnSpc>
            </a:pPr>
            <a:r>
              <a:rPr lang="en-US" altLang="ko-KR" sz="900" b="1" dirty="0"/>
              <a:t>MICE + </a:t>
            </a:r>
            <a:r>
              <a:rPr lang="en-US" altLang="ko-KR" sz="900" b="1" dirty="0" err="1"/>
              <a:t>LightGBM</a:t>
            </a:r>
            <a:r>
              <a:rPr lang="en-US" altLang="ko-KR" sz="900" b="1" dirty="0"/>
              <a:t> </a:t>
            </a:r>
            <a:r>
              <a:rPr lang="ko-KR" altLang="en-US" sz="900" dirty="0"/>
              <a:t>조합이 안정적이다</a:t>
            </a:r>
            <a:r>
              <a:rPr lang="en-US" altLang="ko-KR" sz="900" dirty="0"/>
              <a:t>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9816" y="2924438"/>
            <a:ext cx="4160519" cy="1327522"/>
          </a:xfrm>
          <a:prstGeom prst="roundRect">
            <a:avLst>
              <a:gd name="adj" fmla="val 3265"/>
            </a:avLst>
          </a:prstGeom>
          <a:solidFill>
            <a:srgbClr val="FAEAEA"/>
          </a:solidFill>
          <a:ln w="9525">
            <a:solidFill>
              <a:srgbClr val="7A3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3548" y="2983107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결측률 40%↑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3548" y="3247763"/>
            <a:ext cx="4007040" cy="0"/>
          </a:xfrm>
          <a:prstGeom prst="line">
            <a:avLst/>
          </a:prstGeom>
          <a:noFill/>
          <a:ln w="6350">
            <a:solidFill>
              <a:srgbClr val="7A3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0427" y="326961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MICE </a:t>
            </a:r>
            <a:r>
              <a:rPr lang="ko-KR" altLang="en-US" sz="120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혹은 </a:t>
            </a:r>
            <a:r>
              <a:rPr lang="en-US" altLang="ko-KR" sz="1200" b="1" dirty="0" err="1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Nolmp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3548" y="3588199"/>
            <a:ext cx="4007040" cy="0"/>
          </a:xfrm>
          <a:prstGeom prst="line">
            <a:avLst/>
          </a:prstGeom>
          <a:noFill/>
          <a:ln w="3810">
            <a:solidFill>
              <a:srgbClr val="7A3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606488"/>
            <a:ext cx="3937668" cy="59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900" dirty="0"/>
              <a:t>전체 모델 평균으로는 </a:t>
            </a:r>
            <a:r>
              <a:rPr lang="en-US" altLang="ko-KR" sz="900" dirty="0"/>
              <a:t>Median(0.817)</a:t>
            </a:r>
            <a:r>
              <a:rPr lang="ko-KR" altLang="en-US" sz="900" dirty="0"/>
              <a:t>이 </a:t>
            </a:r>
            <a:r>
              <a:rPr lang="en-US" altLang="ko-KR" sz="900" dirty="0"/>
              <a:t>RF(0.807)</a:t>
            </a:r>
            <a:r>
              <a:rPr lang="ko-KR" altLang="en-US" sz="900" dirty="0"/>
              <a:t>보다 높아</a:t>
            </a:r>
            <a:r>
              <a:rPr lang="en-US" altLang="ko-KR" sz="900" dirty="0"/>
              <a:t>, </a:t>
            </a:r>
            <a:r>
              <a:rPr lang="ko-KR" altLang="en-US" sz="900" dirty="0" err="1"/>
              <a:t>고결측에서</a:t>
            </a:r>
            <a:r>
              <a:rPr lang="ko-KR" altLang="en-US" sz="900" dirty="0"/>
              <a:t> </a:t>
            </a:r>
            <a:r>
              <a:rPr lang="en-US" altLang="ko-KR" sz="900" dirty="0"/>
              <a:t>RF</a:t>
            </a:r>
            <a:r>
              <a:rPr lang="ko-KR" altLang="en-US" sz="900" dirty="0"/>
              <a:t>대치가 반드시 최선은 아님을 보여준다</a:t>
            </a:r>
            <a:r>
              <a:rPr lang="en-US" altLang="ko-KR" sz="9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 dirty="0"/>
              <a:t>단</a:t>
            </a:r>
            <a:r>
              <a:rPr lang="en-US" altLang="ko-KR" sz="900" dirty="0"/>
              <a:t>, </a:t>
            </a:r>
            <a:r>
              <a:rPr lang="ko-KR" altLang="en-US" sz="900" dirty="0"/>
              <a:t>데이터 품질과 해석 가능성을 중시한다면 </a:t>
            </a:r>
            <a:r>
              <a:rPr lang="en-US" altLang="ko-KR" sz="900" dirty="0"/>
              <a:t>MICE</a:t>
            </a:r>
            <a:r>
              <a:rPr lang="ko-KR" altLang="en-US" sz="900" dirty="0"/>
              <a:t>가 여전히 합리적인 선택이다</a:t>
            </a:r>
            <a:r>
              <a:rPr lang="en-US" altLang="ko-KR" sz="900" dirty="0"/>
              <a:t>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23667" y="2920057"/>
            <a:ext cx="4160520" cy="1331903"/>
          </a:xfrm>
          <a:prstGeom prst="roundRect">
            <a:avLst>
              <a:gd name="adj" fmla="val 7018"/>
            </a:avLst>
          </a:prstGeom>
          <a:solidFill>
            <a:srgbClr val="EDE8F8"/>
          </a:solidFill>
          <a:ln w="9525">
            <a:solidFill>
              <a:srgbClr val="5A4A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94" y="937259"/>
            <a:ext cx="7604413" cy="425196"/>
          </a:xfrm>
          <a:prstGeom prst="roundRect">
            <a:avLst>
              <a:gd name="adj" fmla="val 7018"/>
            </a:avLst>
          </a:prstGeom>
          <a:solidFill>
            <a:srgbClr val="FAEAEA"/>
          </a:solidFill>
          <a:ln w="9525">
            <a:solidFill>
              <a:srgbClr val="7A3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8367" y="1071900"/>
            <a:ext cx="7385068" cy="220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실무에서는 </a:t>
            </a:r>
            <a:r>
              <a:rPr lang="en-US" altLang="ko-KR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 + </a:t>
            </a:r>
            <a:r>
              <a:rPr lang="en-US" altLang="ko-KR" sz="950" dirty="0" err="1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altLang="ko-KR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조합이 표준처럼 사용된다</a:t>
            </a:r>
            <a:r>
              <a:rPr lang="en-US" altLang="ko-KR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MICE</a:t>
            </a:r>
            <a:r>
              <a:rPr lang="ko-KR" alt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데이터 품질을 보존하고</a:t>
            </a:r>
            <a:r>
              <a:rPr lang="en-US" altLang="ko-KR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950" dirty="0" err="1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ko-KR" altLang="en-US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속도와 성능을 동시에 잡기 때문이다</a:t>
            </a:r>
            <a:r>
              <a:rPr lang="en-US" altLang="ko-KR" sz="950" dirty="0">
                <a:solidFill>
                  <a:srgbClr val="3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6843366F-2768-BD61-487F-D6C1D215B691}"/>
              </a:ext>
            </a:extLst>
          </p:cNvPr>
          <p:cNvSpPr/>
          <p:nvPr/>
        </p:nvSpPr>
        <p:spPr>
          <a:xfrm>
            <a:off x="4689340" y="2963559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5A4A7A"/>
                </a:solidFill>
              </a:rPr>
              <a:t>클래스 불균형이 심한 경우</a:t>
            </a:r>
            <a:endParaRPr lang="en-US" sz="1400" b="1" dirty="0">
              <a:solidFill>
                <a:srgbClr val="5A4A7A"/>
              </a:solidFill>
            </a:endParaRPr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0551E2D9-CE5D-EB28-775B-5AD4EF8ED568}"/>
              </a:ext>
            </a:extLst>
          </p:cNvPr>
          <p:cNvSpPr/>
          <p:nvPr/>
        </p:nvSpPr>
        <p:spPr>
          <a:xfrm>
            <a:off x="4701112" y="3230543"/>
            <a:ext cx="3939968" cy="6078"/>
          </a:xfrm>
          <a:prstGeom prst="line">
            <a:avLst/>
          </a:prstGeom>
          <a:noFill/>
          <a:ln w="6350">
            <a:solidFill>
              <a:srgbClr val="796B95"/>
            </a:solidFill>
            <a:prstDash val="solid"/>
          </a:ln>
        </p:spPr>
        <p:txBody>
          <a:bodyPr/>
          <a:lstStyle/>
          <a:p>
            <a:endParaRPr lang="ko-KR" altLang="en-US" dirty="0">
              <a:highlight>
                <a:srgbClr val="5A4A7A"/>
              </a:highlight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52F7E67-66E2-510E-73F0-F7EC8B8C7184}"/>
              </a:ext>
            </a:extLst>
          </p:cNvPr>
          <p:cNvSpPr/>
          <p:nvPr/>
        </p:nvSpPr>
        <p:spPr>
          <a:xfrm>
            <a:off x="4701112" y="3271691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 err="1">
                <a:solidFill>
                  <a:srgbClr val="79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</a:t>
            </a:r>
            <a:r>
              <a:rPr lang="ko-KR" altLang="en-US" sz="1200" b="1" dirty="0">
                <a:solidFill>
                  <a:srgbClr val="79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파라미터 튜닝</a:t>
            </a:r>
            <a:endParaRPr lang="en-US" sz="1200" dirty="0">
              <a:solidFill>
                <a:srgbClr val="796B95"/>
              </a:solidFill>
            </a:endParaRP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72C1D964-54FF-FDEB-DD29-E9E3FBF8400D}"/>
              </a:ext>
            </a:extLst>
          </p:cNvPr>
          <p:cNvSpPr/>
          <p:nvPr/>
        </p:nvSpPr>
        <p:spPr>
          <a:xfrm>
            <a:off x="4701112" y="3581903"/>
            <a:ext cx="3939968" cy="0"/>
          </a:xfrm>
          <a:prstGeom prst="line">
            <a:avLst/>
          </a:prstGeom>
          <a:noFill/>
          <a:ln w="3810">
            <a:solidFill>
              <a:srgbClr val="796B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838264D-1278-776A-76EE-AF0515FD9630}"/>
              </a:ext>
            </a:extLst>
          </p:cNvPr>
          <p:cNvSpPr/>
          <p:nvPr/>
        </p:nvSpPr>
        <p:spPr>
          <a:xfrm>
            <a:off x="4705138" y="3703594"/>
            <a:ext cx="3935942" cy="4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900" dirty="0"/>
              <a:t>대치 방법은 성능에 전혀 영향을 미치지 않는다</a:t>
            </a:r>
            <a:r>
              <a:rPr lang="en-US" altLang="ko-KR" sz="9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 dirty="0"/>
              <a:t>이 상황에서는 튜닝과 </a:t>
            </a:r>
            <a:r>
              <a:rPr lang="en-US" altLang="ko-KR" sz="900" dirty="0" err="1"/>
              <a:t>class_weight</a:t>
            </a:r>
            <a:r>
              <a:rPr lang="en-US" altLang="ko-KR" sz="900" dirty="0"/>
              <a:t> </a:t>
            </a:r>
            <a:r>
              <a:rPr lang="ko-KR" altLang="en-US" sz="900" dirty="0"/>
              <a:t>설정이 압도적으로 중요하다</a:t>
            </a:r>
            <a:r>
              <a:rPr lang="en-US" altLang="ko-KR" sz="900" dirty="0"/>
              <a:t>.</a:t>
            </a:r>
            <a:endParaRPr lang="en-US" sz="900"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3A44FE80-2850-20F5-3AB2-C8C8318F1FAF}"/>
              </a:ext>
            </a:extLst>
          </p:cNvPr>
          <p:cNvSpPr/>
          <p:nvPr/>
        </p:nvSpPr>
        <p:spPr>
          <a:xfrm>
            <a:off x="365759" y="4354418"/>
            <a:ext cx="8418427" cy="475953"/>
          </a:xfrm>
          <a:prstGeom prst="roundRect">
            <a:avLst>
              <a:gd name="adj" fmla="val 7018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B774A4-F915-C969-F6F1-B9110909C570}"/>
              </a:ext>
            </a:extLst>
          </p:cNvPr>
          <p:cNvSpPr txBox="1"/>
          <p:nvPr/>
        </p:nvSpPr>
        <p:spPr>
          <a:xfrm>
            <a:off x="502920" y="4407588"/>
            <a:ext cx="790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실무의 </a:t>
            </a:r>
            <a:r>
              <a:rPr lang="en-US" altLang="ko-KR" sz="900" dirty="0"/>
              <a:t>MICE + </a:t>
            </a:r>
            <a:r>
              <a:rPr lang="en-US" altLang="ko-KR" sz="900" dirty="0" err="1"/>
              <a:t>LightGBM</a:t>
            </a:r>
            <a:r>
              <a:rPr lang="en-US" altLang="ko-KR" sz="900" dirty="0"/>
              <a:t> </a:t>
            </a:r>
            <a:r>
              <a:rPr lang="ko-KR" altLang="en-US" sz="900" dirty="0"/>
              <a:t>공식은 대부분의 상황에서 유효하다</a:t>
            </a:r>
            <a:r>
              <a:rPr lang="en-US" altLang="ko-KR" sz="900" dirty="0"/>
              <a:t>. </a:t>
            </a:r>
            <a:r>
              <a:rPr lang="ko-KR" altLang="en-US" sz="900" dirty="0"/>
              <a:t>단</a:t>
            </a:r>
            <a:r>
              <a:rPr lang="en-US" altLang="ko-KR" sz="900" dirty="0"/>
              <a:t>, </a:t>
            </a:r>
            <a:r>
              <a:rPr lang="ko-KR" altLang="en-US" sz="900" dirty="0"/>
              <a:t>고결측 데이터에서는 </a:t>
            </a:r>
            <a:r>
              <a:rPr lang="en-US" altLang="ko-KR" sz="900" dirty="0" err="1"/>
              <a:t>LightGBM</a:t>
            </a:r>
            <a:r>
              <a:rPr lang="ko-KR" altLang="en-US" sz="900" dirty="0"/>
              <a:t>의 내부 처리 능력을 신뢰하는 </a:t>
            </a:r>
            <a:r>
              <a:rPr lang="en-US" altLang="ko-KR" sz="900" dirty="0" err="1"/>
              <a:t>NoImp</a:t>
            </a:r>
            <a:r>
              <a:rPr lang="ko-KR" altLang="en-US" sz="900" dirty="0"/>
              <a:t>도 경쟁력 있는 선택지이며</a:t>
            </a:r>
            <a:r>
              <a:rPr lang="en-US" altLang="ko-KR" sz="900" dirty="0"/>
              <a:t>, </a:t>
            </a:r>
            <a:r>
              <a:rPr lang="ko-KR" altLang="en-US" sz="900" dirty="0"/>
              <a:t>클래스 불균형 상황에서는 대치 방법보다 튜닝이 성능을 결정한다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2554</Words>
  <Application>Microsoft Office PowerPoint</Application>
  <PresentationFormat>화면 슬라이드 쇼(16:9)</PresentationFormat>
  <Paragraphs>332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HY견고딕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전처리 방법에 따른 결과 분석</dc:title>
  <dc:subject>PptxGenJS Presentation</dc:subject>
  <dc:creator>이종원</dc:creator>
  <cp:lastModifiedBy>이종원(2017172030)</cp:lastModifiedBy>
  <cp:revision>3</cp:revision>
  <dcterms:created xsi:type="dcterms:W3CDTF">2026-05-03T09:02:39Z</dcterms:created>
  <dcterms:modified xsi:type="dcterms:W3CDTF">2026-05-03T12:32:57Z</dcterms:modified>
</cp:coreProperties>
</file>